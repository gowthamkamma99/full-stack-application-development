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8288000" cy="10287000"/>
  <p:notesSz cx="6858000" cy="9144000"/>
  <p:embeddedFontLst>
    <p:embeddedFont>
      <p:font typeface="Bookman Old Style" panose="02050604050505020204" pitchFamily="18" charset="0"/>
      <p:regular r:id="rId18"/>
      <p:bold r:id="rId19"/>
      <p:italic r:id="rId20"/>
      <p:boldItalic r:id="rId21"/>
    </p:embeddedFont>
    <p:embeddedFont>
      <p:font typeface="Cambria" panose="02040503050406030204" pitchFamily="18" charset="0"/>
      <p:regular r:id="rId22"/>
      <p:bold r:id="rId23"/>
      <p:italic r:id="rId24"/>
      <p:boldItalic r:id="rId25"/>
    </p:embeddedFont>
    <p:embeddedFont>
      <p:font typeface="Gotham" panose="020B0604020202020204" charset="0"/>
      <p:regular r:id="rId26"/>
    </p:embeddedFont>
    <p:embeddedFont>
      <p:font typeface="Gotham Bold Italics" panose="020B0604020202020204" charset="0"/>
      <p:regular r:id="rId27"/>
    </p:embeddedFont>
  </p:embeddedFontLst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1" d="100"/>
          <a:sy n="51" d="100"/>
        </p:scale>
        <p:origin x="898" y="5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4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CBA3EFF-1ACE-1F7B-671F-2B20E1B81A2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CF7D30F-3BF1-F8A2-757D-434CFBD851F4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E293C5-9511-8F80-BAD1-AF6A8B4AAC0A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AA0530D-9873-B66A-1DA4-3EC2090D594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FB7A9F0-6266-13E1-5701-20E61D6EDA69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4677EA-5DC6-4E6B-29F8-0ED262D71CB3}" type="slidenum">
              <a:rPr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131B8E3-8B22-04A4-8DCC-E78BA2E1919D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F506709-B574-61A2-FFDB-26364C8E5463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7F6A1EA-BC29-1783-5DC7-75F1718E9FD9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4B24866-EB17-9A4A-20EA-9DDF172EB20A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33282AB-F85B-054E-E196-2EF353CDA1FF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6916F4F-098E-DA5D-7590-DC16B9FA1082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CF9EA5C-8912-6A7C-1C34-1102899DC285}" type="slidenum">
              <a:rPr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FD8A85F-C2F6-78BB-5DFF-78AC5AEE7696}" type="slidenum">
              <a:rPr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57EBDFF-B3C3-03A1-E168-134C54D5E9E7}" type="slidenum">
              <a:rPr/>
              <a:t>15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8927414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282260959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/>
          </a:p>
        </p:txBody>
      </p:sp>
      <p:sp>
        <p:nvSpPr>
          <p:cNvPr id="103063262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3/23/2026</a:t>
            </a:fld>
            <a:endParaRPr lang="en-US"/>
          </a:p>
        </p:txBody>
      </p:sp>
      <p:sp>
        <p:nvSpPr>
          <p:cNvPr id="5417007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9245936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710133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550120112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46672203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3/23/2026</a:t>
            </a:fld>
            <a:endParaRPr lang="en-US"/>
          </a:p>
        </p:txBody>
      </p:sp>
      <p:sp>
        <p:nvSpPr>
          <p:cNvPr id="27787543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66015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9617006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517816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90472377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3/23/2026</a:t>
            </a:fld>
            <a:endParaRPr lang="en-US"/>
          </a:p>
        </p:txBody>
      </p:sp>
      <p:sp>
        <p:nvSpPr>
          <p:cNvPr id="70150327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4752196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325161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729260611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476630162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68662530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3/23/2026</a:t>
            </a:fld>
            <a:endParaRPr lang="en-US"/>
          </a:p>
        </p:txBody>
      </p:sp>
      <p:sp>
        <p:nvSpPr>
          <p:cNvPr id="174543293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07024221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337601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40050362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2427736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332530797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014718499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2089131224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3/23/2026</a:t>
            </a:fld>
            <a:endParaRPr lang="en-US"/>
          </a:p>
        </p:txBody>
      </p:sp>
      <p:sp>
        <p:nvSpPr>
          <p:cNvPr id="698915908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05680409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009293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748290983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3/23/2026</a:t>
            </a:fld>
            <a:endParaRPr lang="en-US"/>
          </a:p>
        </p:txBody>
      </p:sp>
      <p:sp>
        <p:nvSpPr>
          <p:cNvPr id="101457405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05645434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5132674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3/23/2026</a:t>
            </a:fld>
            <a:endParaRPr lang="en-US"/>
          </a:p>
        </p:txBody>
      </p:sp>
      <p:sp>
        <p:nvSpPr>
          <p:cNvPr id="547124604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55567889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6091350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835134212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857330538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76254119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3/23/2026</a:t>
            </a:fld>
            <a:endParaRPr lang="en-US"/>
          </a:p>
        </p:txBody>
      </p:sp>
      <p:sp>
        <p:nvSpPr>
          <p:cNvPr id="683590022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3460997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preserve="1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8320359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099246613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212361756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57960484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3/23/2026</a:t>
            </a:fld>
            <a:endParaRPr lang="en-US"/>
          </a:p>
        </p:txBody>
      </p:sp>
      <p:sp>
        <p:nvSpPr>
          <p:cNvPr id="2160210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5369603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preserve="1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878577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810761760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53765593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3/23/2026</a:t>
            </a:fld>
            <a:endParaRPr lang="en-US"/>
          </a:p>
        </p:txBody>
      </p:sp>
      <p:sp>
        <p:nvSpPr>
          <p:cNvPr id="63929761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39023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preserve="1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0667364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998696806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25097205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3/23/2026</a:t>
            </a:fld>
            <a:endParaRPr lang="en-US"/>
          </a:p>
        </p:txBody>
      </p:sp>
      <p:sp>
        <p:nvSpPr>
          <p:cNvPr id="180798535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287752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5560104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35194181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543109605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3/23/2026</a:t>
            </a:fld>
            <a:endParaRPr lang="en-US"/>
          </a:p>
        </p:txBody>
      </p:sp>
      <p:sp>
        <p:nvSpPr>
          <p:cNvPr id="869975719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85287972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261116770" name="Group 10"/>
          <p:cNvGrpSpPr/>
          <p:nvPr/>
        </p:nvGrpSpPr>
        <p:grpSpPr bwMode="auto"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 bwMode="auto"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pFill/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 bwMode="auto">
            <a:xfrm>
              <a:off x="76200" y="47625"/>
              <a:ext cx="660400" cy="68897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defRPr/>
              </a:pPr>
              <a:endParaRPr/>
            </a:p>
          </p:txBody>
        </p:sp>
      </p:grpSp>
      <p:grpSp>
        <p:nvGrpSpPr>
          <p:cNvPr id="572963140" name="Group 19"/>
          <p:cNvGrpSpPr/>
          <p:nvPr/>
        </p:nvGrpSpPr>
        <p:grpSpPr bwMode="auto">
          <a:xfrm>
            <a:off x="-9965724" y="-1383136"/>
            <a:ext cx="10994424" cy="10994424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 bwMode="auto"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pFill/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 bwMode="auto">
            <a:xfrm>
              <a:off x="76200" y="47625"/>
              <a:ext cx="660400" cy="68897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defRPr/>
              </a:pPr>
              <a:endParaRPr/>
            </a:p>
          </p:txBody>
        </p:sp>
      </p:grpSp>
      <p:pic>
        <p:nvPicPr>
          <p:cNvPr id="459591029" name="Picture 22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610443" y="196689"/>
            <a:ext cx="4752247" cy="1360611"/>
          </a:xfrm>
          <a:prstGeom prst="rect">
            <a:avLst/>
          </a:prstGeom>
        </p:spPr>
      </p:pic>
      <p:sp>
        <p:nvSpPr>
          <p:cNvPr id="974445026" name="TextBox 23"/>
          <p:cNvSpPr txBox="1"/>
          <p:nvPr/>
        </p:nvSpPr>
        <p:spPr bwMode="auto">
          <a:xfrm>
            <a:off x="1360002" y="1608482"/>
            <a:ext cx="1592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3200" b="1">
                <a:latin typeface="Cambria"/>
                <a:ea typeface="Cambria"/>
              </a:rPr>
              <a:t>Vel Tech Rangarajan Dr. Sagunthala R&amp;D Institute of Science and Technology</a:t>
            </a:r>
            <a:endParaRPr/>
          </a:p>
          <a:p>
            <a:pPr algn="ctr">
              <a:defRPr/>
            </a:pPr>
            <a:r>
              <a:rPr lang="en-US" sz="3600" b="1">
                <a:latin typeface="Cambria"/>
                <a:ea typeface="Cambria"/>
              </a:rPr>
              <a:t>School of Computing </a:t>
            </a:r>
            <a:endParaRPr/>
          </a:p>
          <a:p>
            <a:pPr algn="ctr">
              <a:defRPr/>
            </a:pPr>
            <a:r>
              <a:rPr lang="en-US" sz="3200" b="1">
                <a:latin typeface="Cambria"/>
                <a:ea typeface="Cambria"/>
              </a:rPr>
              <a:t>Department of Computer Science and Engineering</a:t>
            </a:r>
            <a:endParaRPr lang="en-IN" sz="3200" b="1">
              <a:latin typeface="Cambria"/>
              <a:ea typeface="Cambria"/>
            </a:endParaRPr>
          </a:p>
        </p:txBody>
      </p:sp>
      <p:sp>
        <p:nvSpPr>
          <p:cNvPr id="308983098" name="TextBox 25"/>
          <p:cNvSpPr txBox="1"/>
          <p:nvPr/>
        </p:nvSpPr>
        <p:spPr bwMode="auto">
          <a:xfrm>
            <a:off x="1692835" y="3272357"/>
            <a:ext cx="15260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800" b="1">
                <a:solidFill>
                  <a:srgbClr val="0033CC"/>
                </a:solidFill>
                <a:latin typeface="Bookman Old Style"/>
              </a:rPr>
              <a:t>10211CS224 / FULL STACK APPLICATION DEVELOPMENT (JAVA)</a:t>
            </a:r>
            <a:endParaRPr lang="en-IN" sz="2800" b="1">
              <a:solidFill>
                <a:srgbClr val="0033CC"/>
              </a:solidFill>
              <a:latin typeface="Bookman Old Style"/>
            </a:endParaRPr>
          </a:p>
        </p:txBody>
      </p:sp>
      <p:sp>
        <p:nvSpPr>
          <p:cNvPr id="326343225" name="TextBox 26"/>
          <p:cNvSpPr txBox="1"/>
          <p:nvPr/>
        </p:nvSpPr>
        <p:spPr bwMode="auto">
          <a:xfrm>
            <a:off x="3727756" y="3897939"/>
            <a:ext cx="11196768" cy="1737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IN" sz="3600" b="1" dirty="0">
                <a:solidFill>
                  <a:srgbClr val="C00000"/>
                </a:solidFill>
                <a:latin typeface="Arial"/>
                <a:cs typeface="Arial"/>
              </a:rPr>
              <a:t>PROJECT REVIEW : MILESTONE PROJECT – 1</a:t>
            </a:r>
            <a:endParaRPr dirty="0"/>
          </a:p>
          <a:p>
            <a:pPr algn="ctr">
              <a:defRPr/>
            </a:pPr>
            <a:endParaRPr lang="en-IN" sz="3600" b="1" dirty="0">
              <a:solidFill>
                <a:srgbClr val="C00000"/>
              </a:solidFill>
              <a:latin typeface="Arial"/>
              <a:cs typeface="Arial"/>
            </a:endParaRPr>
          </a:p>
          <a:p>
            <a:pPr algn="ctr">
              <a:defRPr/>
            </a:pPr>
            <a:r>
              <a:rPr lang="en-IN" sz="3600" b="1" dirty="0">
                <a:solidFill>
                  <a:srgbClr val="C00000"/>
                </a:solidFill>
                <a:latin typeface="Arial"/>
                <a:cs typeface="Arial"/>
              </a:rPr>
              <a:t>Date: </a:t>
            </a:r>
            <a:r>
              <a:rPr lang="en-US" sz="3600" b="1">
                <a:solidFill>
                  <a:srgbClr val="C00000"/>
                </a:solidFill>
                <a:latin typeface="Arial"/>
                <a:cs typeface="Arial"/>
              </a:rPr>
              <a:t>23</a:t>
            </a:r>
            <a:r>
              <a:rPr lang="en-IN" sz="3600" b="1">
                <a:solidFill>
                  <a:srgbClr val="C00000"/>
                </a:solidFill>
                <a:latin typeface="Arial"/>
                <a:cs typeface="Arial"/>
              </a:rPr>
              <a:t>-</a:t>
            </a:r>
            <a:r>
              <a:rPr lang="en-US" sz="3600" b="1" dirty="0">
                <a:solidFill>
                  <a:srgbClr val="C00000"/>
                </a:solidFill>
                <a:latin typeface="Arial"/>
                <a:cs typeface="Arial"/>
              </a:rPr>
              <a:t>03</a:t>
            </a:r>
            <a:r>
              <a:rPr lang="en-IN" sz="3600" b="1" dirty="0">
                <a:solidFill>
                  <a:srgbClr val="C00000"/>
                </a:solidFill>
                <a:latin typeface="Arial"/>
                <a:cs typeface="Arial"/>
              </a:rPr>
              <a:t>-</a:t>
            </a:r>
            <a:r>
              <a:rPr lang="en-US" sz="3600" b="1" dirty="0">
                <a:solidFill>
                  <a:srgbClr val="C00000"/>
                </a:solidFill>
                <a:latin typeface="Arial"/>
                <a:cs typeface="Arial"/>
              </a:rPr>
              <a:t>2026</a:t>
            </a:r>
            <a:endParaRPr dirty="0"/>
          </a:p>
        </p:txBody>
      </p:sp>
      <p:sp>
        <p:nvSpPr>
          <p:cNvPr id="1860050136" name="TextBox 12"/>
          <p:cNvSpPr txBox="1"/>
          <p:nvPr/>
        </p:nvSpPr>
        <p:spPr bwMode="auto">
          <a:xfrm>
            <a:off x="1501639" y="6057900"/>
            <a:ext cx="15785961" cy="1554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4800" b="1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Relational Inventory Control &amp; Stock Tracking System</a:t>
            </a:r>
            <a:endParaRPr sz="4800" b="1">
              <a:latin typeface="Times New Roman"/>
              <a:cs typeface="Times New Roman"/>
            </a:endParaRPr>
          </a:p>
          <a:p>
            <a:pPr>
              <a:defRPr/>
            </a:pPr>
            <a:endParaRPr sz="4800" b="1">
              <a:latin typeface="Times New Roman"/>
              <a:cs typeface="Times New Roman"/>
            </a:endParaRPr>
          </a:p>
        </p:txBody>
      </p:sp>
      <p:sp>
        <p:nvSpPr>
          <p:cNvPr id="402354072" name="TextBox 13"/>
          <p:cNvSpPr txBox="1"/>
          <p:nvPr/>
        </p:nvSpPr>
        <p:spPr bwMode="auto">
          <a:xfrm>
            <a:off x="893869" y="7800538"/>
            <a:ext cx="9068879" cy="14268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363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000" b="1" dirty="0">
                <a:latin typeface="Cambria"/>
                <a:ea typeface="Cambria"/>
              </a:rPr>
              <a:t>Presented By:</a:t>
            </a:r>
            <a:br>
              <a:rPr lang="en-US" sz="3000" b="1" i="0" u="none" strike="noStrike" cap="none" spc="-14" dirty="0">
                <a:solidFill>
                  <a:srgbClr val="000000">
                    <a:alpha val="100000"/>
                  </a:srgbClr>
                </a:solidFill>
                <a:latin typeface="Caladea"/>
                <a:ea typeface="Caladea"/>
                <a:cs typeface="Caladea"/>
              </a:rPr>
            </a:br>
            <a:r>
              <a:rPr lang="en-US" sz="3000" b="1" spc="-14" dirty="0">
                <a:solidFill>
                  <a:srgbClr val="000000">
                    <a:alpha val="100000"/>
                  </a:srgbClr>
                </a:solidFill>
                <a:latin typeface="Caladea"/>
                <a:ea typeface="Caladea"/>
                <a:cs typeface="Caladea"/>
              </a:rPr>
              <a:t>K.GOWTHAM</a:t>
            </a:r>
            <a:r>
              <a:rPr lang="en-US" sz="3000" b="1" i="0" u="none" strike="noStrike" cap="none" spc="-14" dirty="0">
                <a:solidFill>
                  <a:srgbClr val="000000">
                    <a:alpha val="100000"/>
                  </a:srgbClr>
                </a:solidFill>
                <a:latin typeface="Caladea"/>
                <a:ea typeface="Caladea"/>
                <a:cs typeface="Caladea"/>
              </a:rPr>
              <a:t> – VTU25540– Reg.No.</a:t>
            </a:r>
            <a:r>
              <a:rPr lang="en-US" sz="3000" b="0" i="0" u="none" strike="noStrike" cap="none" spc="-14" dirty="0">
                <a:solidFill>
                  <a:srgbClr val="000000">
                    <a:alpha val="100000"/>
                  </a:srgbClr>
                </a:solidFill>
                <a:latin typeface="Optima"/>
                <a:ea typeface="Optima"/>
                <a:cs typeface="Optima"/>
              </a:rPr>
              <a:t>23UECS</a:t>
            </a:r>
            <a:r>
              <a:rPr lang="en-US" sz="3000" spc="-14" dirty="0">
                <a:solidFill>
                  <a:srgbClr val="000000">
                    <a:alpha val="100000"/>
                  </a:srgbClr>
                </a:solidFill>
                <a:latin typeface="Optima"/>
                <a:ea typeface="Optima"/>
                <a:cs typeface="Optima"/>
              </a:rPr>
              <a:t>0254</a:t>
            </a:r>
            <a:endParaRPr sz="3000" dirty="0"/>
          </a:p>
          <a:p>
            <a:pPr>
              <a:lnSpc>
                <a:spcPct val="150000"/>
              </a:lnSpc>
              <a:defRPr/>
            </a:pPr>
            <a:endParaRPr dirty="0"/>
          </a:p>
        </p:txBody>
      </p:sp>
      <p:sp>
        <p:nvSpPr>
          <p:cNvPr id="1966391919" name="TextBox 14"/>
          <p:cNvSpPr txBox="1"/>
          <p:nvPr/>
        </p:nvSpPr>
        <p:spPr bwMode="auto">
          <a:xfrm>
            <a:off x="10945035" y="7818585"/>
            <a:ext cx="6915682" cy="1405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sz="3000" b="1" dirty="0">
                <a:latin typeface="Cambria"/>
                <a:ea typeface="Cambria"/>
              </a:rPr>
              <a:t>Courses Handling Faculty:</a:t>
            </a:r>
            <a:br>
              <a:rPr lang="en-US" sz="3000" b="1" i="0" u="none" strike="noStrike" cap="none" spc="-14" dirty="0">
                <a:solidFill>
                  <a:srgbClr val="000000">
                    <a:alpha val="100000"/>
                  </a:srgbClr>
                </a:solidFill>
                <a:latin typeface="Caladea"/>
                <a:ea typeface="Caladea"/>
                <a:cs typeface="Caladea"/>
              </a:rPr>
            </a:br>
            <a:r>
              <a:rPr lang="en-US" sz="3000" b="1" i="0" u="none" strike="noStrike" cap="none" spc="-14" dirty="0">
                <a:solidFill>
                  <a:srgbClr val="000000">
                    <a:alpha val="100000"/>
                  </a:srgbClr>
                </a:solidFill>
                <a:latin typeface="Caladea"/>
                <a:ea typeface="Caladea"/>
                <a:cs typeface="Caladea"/>
              </a:rPr>
              <a:t>Dr. S. Hemamalini M.E.,</a:t>
            </a:r>
            <a:r>
              <a:rPr lang="en-US" sz="3000" b="1" i="0" u="none" strike="noStrike" cap="none" spc="-14" dirty="0" err="1">
                <a:solidFill>
                  <a:srgbClr val="000000">
                    <a:alpha val="100000"/>
                  </a:srgbClr>
                </a:solidFill>
                <a:latin typeface="Caladea"/>
                <a:ea typeface="Caladea"/>
                <a:cs typeface="Caladea"/>
              </a:rPr>
              <a:t>Ph.D</a:t>
            </a:r>
            <a:r>
              <a:rPr lang="en-US" sz="3000" b="1" i="0" u="none" strike="noStrike" cap="none" spc="-14" dirty="0">
                <a:solidFill>
                  <a:srgbClr val="000000">
                    <a:alpha val="100000"/>
                  </a:srgbClr>
                </a:solidFill>
                <a:latin typeface="Caladea"/>
                <a:ea typeface="Caladea"/>
                <a:cs typeface="Caladea"/>
              </a:rPr>
              <a:t>.,</a:t>
            </a:r>
            <a:endParaRPr dirty="0"/>
          </a:p>
        </p:txBody>
      </p:sp>
      <p:sp>
        <p:nvSpPr>
          <p:cNvPr id="1927183056" name="TextBox 15"/>
          <p:cNvSpPr txBox="1"/>
          <p:nvPr/>
        </p:nvSpPr>
        <p:spPr bwMode="auto">
          <a:xfrm>
            <a:off x="1750558" y="7057344"/>
            <a:ext cx="14743890" cy="3965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000" b="1" i="0" u="none" strike="noStrike" cap="none" spc="-14">
                <a:solidFill>
                  <a:srgbClr val="000000">
                    <a:alpha val="100000"/>
                  </a:srgbClr>
                </a:solidFill>
                <a:latin typeface="Caladea"/>
                <a:ea typeface="Caladea"/>
                <a:cs typeface="Caladea"/>
              </a:rPr>
              <a:t>SDG: SDG No –4 ( Quality Education)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9220223" name="Freeform 8"/>
          <p:cNvSpPr/>
          <p:nvPr/>
        </p:nvSpPr>
        <p:spPr bwMode="auto"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 extrusionOk="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/>
          </a:blipFill>
        </p:spPr>
        <p:txBody>
          <a:bodyPr/>
          <a:lstStyle/>
          <a:p>
            <a:endParaRPr lang="en-IN"/>
          </a:p>
        </p:txBody>
      </p:sp>
      <p:grpSp>
        <p:nvGrpSpPr>
          <p:cNvPr id="1233586409" name="Group 9"/>
          <p:cNvGrpSpPr/>
          <p:nvPr/>
        </p:nvGrpSpPr>
        <p:grpSpPr bwMode="auto">
          <a:xfrm>
            <a:off x="706082" y="1952203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 bwMode="auto"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 bwMode="auto">
            <a:xfrm>
              <a:off x="76200" y="19050"/>
              <a:ext cx="660400" cy="717550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ts val="0"/>
                </a:spcBef>
                <a:defRPr/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</a:rPr>
                <a:t>1</a:t>
              </a:r>
              <a:endParaRPr/>
            </a:p>
          </p:txBody>
        </p:sp>
      </p:grpSp>
      <p:grpSp>
        <p:nvGrpSpPr>
          <p:cNvPr id="402108612" name="Group 12"/>
          <p:cNvGrpSpPr/>
          <p:nvPr/>
        </p:nvGrpSpPr>
        <p:grpSpPr bwMode="auto">
          <a:xfrm>
            <a:off x="948235" y="4447339"/>
            <a:ext cx="508158" cy="543805"/>
            <a:chOff x="0" y="0"/>
            <a:chExt cx="812800" cy="869819"/>
          </a:xfrm>
        </p:grpSpPr>
        <p:sp>
          <p:nvSpPr>
            <p:cNvPr id="13" name="Freeform 13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TextBox 14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4</a:t>
              </a:r>
              <a:endParaRPr/>
            </a:p>
          </p:txBody>
        </p:sp>
      </p:grpSp>
      <p:grpSp>
        <p:nvGrpSpPr>
          <p:cNvPr id="174862810" name="Group 15"/>
          <p:cNvGrpSpPr/>
          <p:nvPr/>
        </p:nvGrpSpPr>
        <p:grpSpPr bwMode="auto">
          <a:xfrm>
            <a:off x="948235" y="3107362"/>
            <a:ext cx="508158" cy="543805"/>
            <a:chOff x="0" y="0"/>
            <a:chExt cx="812800" cy="869819"/>
          </a:xfrm>
        </p:grpSpPr>
        <p:sp>
          <p:nvSpPr>
            <p:cNvPr id="16" name="Freeform 16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TextBox 17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2</a:t>
              </a:r>
              <a:endParaRPr/>
            </a:p>
          </p:txBody>
        </p:sp>
      </p:grpSp>
      <p:grpSp>
        <p:nvGrpSpPr>
          <p:cNvPr id="1554178899" name="Group 18"/>
          <p:cNvGrpSpPr/>
          <p:nvPr/>
        </p:nvGrpSpPr>
        <p:grpSpPr bwMode="auto">
          <a:xfrm>
            <a:off x="948235" y="5115753"/>
            <a:ext cx="508158" cy="543805"/>
            <a:chOff x="0" y="0"/>
            <a:chExt cx="812800" cy="869819"/>
          </a:xfrm>
        </p:grpSpPr>
        <p:sp>
          <p:nvSpPr>
            <p:cNvPr id="19" name="Freeform 19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TextBox 20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5</a:t>
              </a:r>
              <a:endParaRPr/>
            </a:p>
          </p:txBody>
        </p:sp>
      </p:grpSp>
      <p:grpSp>
        <p:nvGrpSpPr>
          <p:cNvPr id="1225721654" name="Group 21"/>
          <p:cNvGrpSpPr/>
          <p:nvPr/>
        </p:nvGrpSpPr>
        <p:grpSpPr bwMode="auto">
          <a:xfrm>
            <a:off x="948235" y="3776486"/>
            <a:ext cx="508158" cy="543805"/>
            <a:chOff x="0" y="0"/>
            <a:chExt cx="812800" cy="869819"/>
          </a:xfrm>
        </p:grpSpPr>
        <p:sp>
          <p:nvSpPr>
            <p:cNvPr id="22" name="Freeform 22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TextBox 23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3</a:t>
              </a:r>
              <a:endParaRPr/>
            </a:p>
          </p:txBody>
        </p:sp>
      </p:grpSp>
      <p:grpSp>
        <p:nvGrpSpPr>
          <p:cNvPr id="1829262898" name="Group 24"/>
          <p:cNvGrpSpPr/>
          <p:nvPr/>
        </p:nvGrpSpPr>
        <p:grpSpPr bwMode="auto">
          <a:xfrm>
            <a:off x="948235" y="6455730"/>
            <a:ext cx="508158" cy="543805"/>
            <a:chOff x="0" y="0"/>
            <a:chExt cx="812800" cy="869819"/>
          </a:xfrm>
        </p:grpSpPr>
        <p:sp>
          <p:nvSpPr>
            <p:cNvPr id="25" name="Freeform 25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TextBox 26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7</a:t>
              </a:r>
              <a:endParaRPr/>
            </a:p>
          </p:txBody>
        </p:sp>
      </p:grpSp>
      <p:grpSp>
        <p:nvGrpSpPr>
          <p:cNvPr id="1805288330" name="Group 27"/>
          <p:cNvGrpSpPr/>
          <p:nvPr/>
        </p:nvGrpSpPr>
        <p:grpSpPr bwMode="auto">
          <a:xfrm>
            <a:off x="948235" y="5784877"/>
            <a:ext cx="508158" cy="543805"/>
            <a:chOff x="0" y="0"/>
            <a:chExt cx="812800" cy="869819"/>
          </a:xfrm>
        </p:grpSpPr>
        <p:sp>
          <p:nvSpPr>
            <p:cNvPr id="28" name="Freeform 28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TextBox 29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6</a:t>
              </a:r>
              <a:endParaRPr/>
            </a:p>
          </p:txBody>
        </p:sp>
      </p:grpSp>
      <p:grpSp>
        <p:nvGrpSpPr>
          <p:cNvPr id="1687618892" name="Group 36"/>
          <p:cNvGrpSpPr/>
          <p:nvPr/>
        </p:nvGrpSpPr>
        <p:grpSpPr bwMode="auto">
          <a:xfrm>
            <a:off x="948235" y="7123361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TextBox 38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8</a:t>
              </a:r>
              <a:endParaRPr/>
            </a:p>
          </p:txBody>
        </p:sp>
      </p:grpSp>
      <p:grpSp>
        <p:nvGrpSpPr>
          <p:cNvPr id="1941715985" name="Group 39"/>
          <p:cNvGrpSpPr/>
          <p:nvPr/>
        </p:nvGrpSpPr>
        <p:grpSpPr bwMode="auto">
          <a:xfrm>
            <a:off x="948235" y="7790991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1" name="TextBox 41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9</a:t>
              </a:r>
              <a:endParaRPr/>
            </a:p>
          </p:txBody>
        </p:sp>
      </p:grpSp>
      <p:sp>
        <p:nvSpPr>
          <p:cNvPr id="1792412142" name="TextBox 1"/>
          <p:cNvSpPr txBox="1"/>
          <p:nvPr/>
        </p:nvSpPr>
        <p:spPr bwMode="auto">
          <a:xfrm>
            <a:off x="152400" y="342900"/>
            <a:ext cx="1813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4800" b="1">
                <a:solidFill>
                  <a:srgbClr val="0033CC"/>
                </a:solidFill>
                <a:latin typeface="Times New Roman"/>
                <a:cs typeface="Times New Roman"/>
              </a:rPr>
              <a:t>INTRODUCTION</a:t>
            </a:r>
            <a:endParaRPr lang="en-IN" sz="4800" b="1">
              <a:solidFill>
                <a:srgbClr val="0033CC"/>
              </a:solidFill>
              <a:latin typeface="Times New Roman"/>
              <a:cs typeface="Times New Roman"/>
            </a:endParaRPr>
          </a:p>
        </p:txBody>
      </p:sp>
      <p:sp>
        <p:nvSpPr>
          <p:cNvPr id="1609051662" name="TextBox 2"/>
          <p:cNvSpPr txBox="1"/>
          <p:nvPr/>
        </p:nvSpPr>
        <p:spPr bwMode="auto">
          <a:xfrm>
            <a:off x="1920647" y="3679371"/>
            <a:ext cx="16368071" cy="27715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sz="24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➤ A Relational Inventory Control &amp; Stock Tracking System is a software application used to manage product stock efficiently.</a:t>
            </a:r>
            <a:br>
              <a:rPr sz="24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</a:br>
            <a:r>
              <a:rPr sz="24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➤ It helps businesses track inventory levels, stock movement, and product details in real time.</a:t>
            </a:r>
            <a:br>
              <a:rPr sz="24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</a:br>
            <a:r>
              <a:rPr sz="24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➤ The system maintains data using a relational database (tables with relationships).</a:t>
            </a:r>
            <a:br>
              <a:rPr sz="24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</a:br>
            <a:r>
              <a:rPr sz="24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➤ It monitors stock-in, stock-out, supplier, and sales information.</a:t>
            </a:r>
            <a:br>
              <a:rPr sz="24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</a:br>
            <a:r>
              <a:rPr sz="24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➤ It reduces human errors in manual inventory management.</a:t>
            </a:r>
            <a:br>
              <a:rPr sz="24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</a:br>
            <a:r>
              <a:rPr sz="24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➤ It provides real-time alerts for low stock levels.</a:t>
            </a:r>
            <a:br>
              <a:rPr sz="24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</a:br>
            <a:r>
              <a:rPr sz="24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➤ It improves accuracy, efficiency, and decision-making.</a:t>
            </a:r>
            <a:endParaRPr sz="240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3031724" name="Freeform 10"/>
          <p:cNvSpPr/>
          <p:nvPr/>
        </p:nvSpPr>
        <p:spPr bwMode="auto"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 extrusionOk="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/>
          </a:blipFill>
        </p:spPr>
        <p:txBody>
          <a:bodyPr/>
          <a:lstStyle/>
          <a:p>
            <a:endParaRPr lang="en-IN"/>
          </a:p>
        </p:txBody>
      </p:sp>
      <p:grpSp>
        <p:nvGrpSpPr>
          <p:cNvPr id="1810896062" name="Group 11"/>
          <p:cNvGrpSpPr/>
          <p:nvPr/>
        </p:nvGrpSpPr>
        <p:grpSpPr bwMode="auto">
          <a:xfrm>
            <a:off x="709357" y="2648112"/>
            <a:ext cx="992463" cy="992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 bwMode="auto"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 bwMode="auto">
            <a:xfrm>
              <a:off x="76200" y="19050"/>
              <a:ext cx="660400" cy="717550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ts val="0"/>
                </a:spcBef>
                <a:defRPr/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</a:rPr>
                <a:t>2</a:t>
              </a:r>
              <a:endParaRPr/>
            </a:p>
          </p:txBody>
        </p:sp>
      </p:grpSp>
      <p:grpSp>
        <p:nvGrpSpPr>
          <p:cNvPr id="850765597" name="Group 14"/>
          <p:cNvGrpSpPr/>
          <p:nvPr/>
        </p:nvGrpSpPr>
        <p:grpSpPr bwMode="auto"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4</a:t>
              </a:r>
              <a:endParaRPr/>
            </a:p>
          </p:txBody>
        </p:sp>
      </p:grpSp>
      <p:grpSp>
        <p:nvGrpSpPr>
          <p:cNvPr id="389093025" name="Group 17"/>
          <p:cNvGrpSpPr/>
          <p:nvPr/>
        </p:nvGrpSpPr>
        <p:grpSpPr bwMode="auto"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1</a:t>
              </a:r>
              <a:endParaRPr/>
            </a:p>
          </p:txBody>
        </p:sp>
      </p:grpSp>
      <p:grpSp>
        <p:nvGrpSpPr>
          <p:cNvPr id="1034851525" name="Group 20"/>
          <p:cNvGrpSpPr/>
          <p:nvPr/>
        </p:nvGrpSpPr>
        <p:grpSpPr bwMode="auto"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5</a:t>
              </a:r>
              <a:endParaRPr/>
            </a:p>
          </p:txBody>
        </p:sp>
      </p:grpSp>
      <p:grpSp>
        <p:nvGrpSpPr>
          <p:cNvPr id="11542346" name="Group 23"/>
          <p:cNvGrpSpPr/>
          <p:nvPr/>
        </p:nvGrpSpPr>
        <p:grpSpPr bwMode="auto"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3</a:t>
              </a:r>
              <a:endParaRPr/>
            </a:p>
          </p:txBody>
        </p:sp>
      </p:grpSp>
      <p:grpSp>
        <p:nvGrpSpPr>
          <p:cNvPr id="316914608" name="Group 26"/>
          <p:cNvGrpSpPr/>
          <p:nvPr/>
        </p:nvGrpSpPr>
        <p:grpSpPr bwMode="auto"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7</a:t>
              </a:r>
              <a:endParaRPr/>
            </a:p>
          </p:txBody>
        </p:sp>
      </p:grpSp>
      <p:grpSp>
        <p:nvGrpSpPr>
          <p:cNvPr id="1967352318" name="Group 29"/>
          <p:cNvGrpSpPr/>
          <p:nvPr/>
        </p:nvGrpSpPr>
        <p:grpSpPr bwMode="auto"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6</a:t>
              </a:r>
              <a:endParaRPr/>
            </a:p>
          </p:txBody>
        </p:sp>
      </p:grpSp>
      <p:grpSp>
        <p:nvGrpSpPr>
          <p:cNvPr id="1097987694" name="Group 36"/>
          <p:cNvGrpSpPr/>
          <p:nvPr/>
        </p:nvGrpSpPr>
        <p:grpSpPr bwMode="auto"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TextBox 38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8</a:t>
              </a:r>
              <a:endParaRPr/>
            </a:p>
          </p:txBody>
        </p:sp>
      </p:grpSp>
      <p:grpSp>
        <p:nvGrpSpPr>
          <p:cNvPr id="1984402676" name="Group 39"/>
          <p:cNvGrpSpPr/>
          <p:nvPr/>
        </p:nvGrpSpPr>
        <p:grpSpPr bwMode="auto"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1" name="TextBox 41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9</a:t>
              </a:r>
              <a:endParaRPr/>
            </a:p>
          </p:txBody>
        </p:sp>
      </p:grpSp>
      <p:sp>
        <p:nvSpPr>
          <p:cNvPr id="2011817550" name="TextBox 46"/>
          <p:cNvSpPr txBox="1"/>
          <p:nvPr/>
        </p:nvSpPr>
        <p:spPr bwMode="auto"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4800" b="1">
                <a:solidFill>
                  <a:srgbClr val="0033CC"/>
                </a:solidFill>
                <a:latin typeface="Times New Roman"/>
                <a:cs typeface="Times New Roman"/>
              </a:rPr>
              <a:t>PROBLEM STATEMENT</a:t>
            </a:r>
            <a:endParaRPr lang="en-IN" sz="4800" b="1">
              <a:solidFill>
                <a:srgbClr val="0033CC"/>
              </a:solidFill>
              <a:latin typeface="Times New Roman"/>
              <a:cs typeface="Times New Roman"/>
            </a:endParaRPr>
          </a:p>
        </p:txBody>
      </p:sp>
      <p:sp>
        <p:nvSpPr>
          <p:cNvPr id="1607885806" name="TextBox 47"/>
          <p:cNvSpPr txBox="1"/>
          <p:nvPr/>
        </p:nvSpPr>
        <p:spPr bwMode="auto">
          <a:xfrm>
            <a:off x="2022701" y="3169103"/>
            <a:ext cx="15084124" cy="3409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➤ Many businesses manage inventory manually using Excel or paper records.</a:t>
            </a:r>
            <a:b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</a:br>
            <a: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➤ Manual tracking leads to stock miscalculations and data loss.</a:t>
            </a:r>
            <a:b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</a:br>
            <a: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➤ No real-time stock visibility.</a:t>
            </a:r>
            <a:b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</a:br>
            <a: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➤ Overstocking increases storage cost.</a:t>
            </a:r>
            <a:b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</a:br>
            <a: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➤ Understocking leads to customer dissatisfaction.</a:t>
            </a:r>
            <a:b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</a:br>
            <a: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➤ Difficult to track supplier and sales history.</a:t>
            </a:r>
            <a:b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</a:br>
            <a: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➤ Lack of reporting and analytics for business decisions.</a:t>
            </a:r>
            <a:endParaRPr sz="26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➤ Therefore, an automated relational inventory system is required.</a:t>
            </a:r>
            <a:endParaRPr sz="260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912935795" name="Group 7"/>
          <p:cNvGrpSpPr/>
          <p:nvPr/>
        </p:nvGrpSpPr>
        <p:grpSpPr bwMode="auto">
          <a:xfrm>
            <a:off x="709357" y="3315742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 bwMode="auto"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 bwMode="auto">
            <a:xfrm>
              <a:off x="76200" y="19050"/>
              <a:ext cx="660400" cy="717550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ts val="0"/>
                </a:spcBef>
                <a:defRPr/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</a:rPr>
                <a:t>3</a:t>
              </a:r>
              <a:endParaRPr/>
            </a:p>
          </p:txBody>
        </p:sp>
      </p:grpSp>
      <p:grpSp>
        <p:nvGrpSpPr>
          <p:cNvPr id="9842037" name="Group 10"/>
          <p:cNvGrpSpPr/>
          <p:nvPr/>
        </p:nvGrpSpPr>
        <p:grpSpPr bwMode="auto"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4</a:t>
              </a:r>
              <a:endParaRPr/>
            </a:p>
          </p:txBody>
        </p:sp>
      </p:grpSp>
      <p:grpSp>
        <p:nvGrpSpPr>
          <p:cNvPr id="1753834993" name="Group 13"/>
          <p:cNvGrpSpPr/>
          <p:nvPr/>
        </p:nvGrpSpPr>
        <p:grpSpPr bwMode="auto"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1</a:t>
              </a:r>
              <a:endParaRPr/>
            </a:p>
          </p:txBody>
        </p:sp>
      </p:grpSp>
      <p:grpSp>
        <p:nvGrpSpPr>
          <p:cNvPr id="694500867" name="Group 16"/>
          <p:cNvGrpSpPr/>
          <p:nvPr/>
        </p:nvGrpSpPr>
        <p:grpSpPr bwMode="auto"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5</a:t>
              </a:r>
              <a:endParaRPr/>
            </a:p>
          </p:txBody>
        </p:sp>
      </p:grpSp>
      <p:grpSp>
        <p:nvGrpSpPr>
          <p:cNvPr id="272340327" name="Group 19"/>
          <p:cNvGrpSpPr/>
          <p:nvPr/>
        </p:nvGrpSpPr>
        <p:grpSpPr bwMode="auto"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2</a:t>
              </a:r>
              <a:endParaRPr/>
            </a:p>
          </p:txBody>
        </p:sp>
      </p:grpSp>
      <p:grpSp>
        <p:nvGrpSpPr>
          <p:cNvPr id="675148108" name="Group 22"/>
          <p:cNvGrpSpPr/>
          <p:nvPr/>
        </p:nvGrpSpPr>
        <p:grpSpPr bwMode="auto"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7</a:t>
              </a:r>
              <a:endParaRPr/>
            </a:p>
          </p:txBody>
        </p:sp>
      </p:grpSp>
      <p:grpSp>
        <p:nvGrpSpPr>
          <p:cNvPr id="131068851" name="Group 25"/>
          <p:cNvGrpSpPr/>
          <p:nvPr/>
        </p:nvGrpSpPr>
        <p:grpSpPr bwMode="auto"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6</a:t>
              </a:r>
              <a:endParaRPr/>
            </a:p>
          </p:txBody>
        </p:sp>
      </p:grpSp>
      <p:grpSp>
        <p:nvGrpSpPr>
          <p:cNvPr id="2028767183" name="Group 41"/>
          <p:cNvGrpSpPr/>
          <p:nvPr/>
        </p:nvGrpSpPr>
        <p:grpSpPr bwMode="auto"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42" name="Freeform 42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3" name="TextBox 43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8</a:t>
              </a:r>
              <a:endParaRPr/>
            </a:p>
          </p:txBody>
        </p:sp>
      </p:grpSp>
      <p:grpSp>
        <p:nvGrpSpPr>
          <p:cNvPr id="357787958" name="Group 44"/>
          <p:cNvGrpSpPr/>
          <p:nvPr/>
        </p:nvGrpSpPr>
        <p:grpSpPr bwMode="auto"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5" name="Freeform 45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TextBox 46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9</a:t>
              </a:r>
              <a:endParaRPr/>
            </a:p>
          </p:txBody>
        </p:sp>
      </p:grpSp>
      <p:sp>
        <p:nvSpPr>
          <p:cNvPr id="756003490" name="TextBox 49"/>
          <p:cNvSpPr txBox="1"/>
          <p:nvPr/>
        </p:nvSpPr>
        <p:spPr bwMode="auto"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4800" b="1">
                <a:solidFill>
                  <a:srgbClr val="0033CC"/>
                </a:solidFill>
                <a:latin typeface="Times New Roman"/>
                <a:cs typeface="Times New Roman"/>
              </a:rPr>
              <a:t>OBJECTIVE(S)</a:t>
            </a:r>
            <a:endParaRPr lang="en-IN" sz="4800" b="1">
              <a:solidFill>
                <a:srgbClr val="0033CC"/>
              </a:solidFill>
              <a:latin typeface="Times New Roman"/>
              <a:cs typeface="Times New Roman"/>
            </a:endParaRPr>
          </a:p>
        </p:txBody>
      </p:sp>
      <p:sp>
        <p:nvSpPr>
          <p:cNvPr id="1962162207" name="Freeform 10"/>
          <p:cNvSpPr/>
          <p:nvPr/>
        </p:nvSpPr>
        <p:spPr bwMode="auto"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 extrusionOk="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/>
          </a:blipFill>
        </p:spPr>
        <p:txBody>
          <a:bodyPr/>
          <a:lstStyle/>
          <a:p>
            <a:endParaRPr lang="en-IN"/>
          </a:p>
        </p:txBody>
      </p:sp>
      <p:sp>
        <p:nvSpPr>
          <p:cNvPr id="1520593541" name="TextBox 51"/>
          <p:cNvSpPr txBox="1"/>
          <p:nvPr/>
        </p:nvSpPr>
        <p:spPr bwMode="auto">
          <a:xfrm>
            <a:off x="2174454" y="3373210"/>
            <a:ext cx="15084844" cy="25801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➤ Centralize inventory data using relational database.</a:t>
            </a:r>
            <a:b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</a:br>
            <a: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➤ Automate stock tracking and updates.</a:t>
            </a:r>
            <a:b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</a:br>
            <a: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➤ Reduce manual errors and duplicate entries.</a:t>
            </a:r>
            <a:b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</a:br>
            <a: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➤ Provide real-time stock availability.</a:t>
            </a:r>
            <a:b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</a:br>
            <a: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➤ Generate reports for sales and inventory analysis.</a:t>
            </a:r>
            <a:b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</a:br>
            <a: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➤ Improve operational efficiency and productivity.</a:t>
            </a:r>
            <a:endParaRPr sz="260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519033201" name="Group 13"/>
          <p:cNvGrpSpPr/>
          <p:nvPr/>
        </p:nvGrpSpPr>
        <p:grpSpPr bwMode="auto">
          <a:xfrm>
            <a:off x="709357" y="3983373"/>
            <a:ext cx="992463" cy="99246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 bwMode="auto"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/>
            <p:cNvSpPr txBox="1"/>
            <p:nvPr/>
          </p:nvSpPr>
          <p:spPr bwMode="auto">
            <a:xfrm>
              <a:off x="76200" y="19050"/>
              <a:ext cx="660400" cy="717550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ts val="0"/>
                </a:spcBef>
                <a:defRPr/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</a:rPr>
                <a:t>4</a:t>
              </a:r>
              <a:endParaRPr/>
            </a:p>
          </p:txBody>
        </p:sp>
      </p:grpSp>
      <p:grpSp>
        <p:nvGrpSpPr>
          <p:cNvPr id="341924692" name="Group 16"/>
          <p:cNvGrpSpPr/>
          <p:nvPr/>
        </p:nvGrpSpPr>
        <p:grpSpPr bwMode="auto">
          <a:xfrm>
            <a:off x="951509" y="3315742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3</a:t>
              </a:r>
              <a:endParaRPr/>
            </a:p>
          </p:txBody>
        </p:sp>
      </p:grpSp>
      <p:grpSp>
        <p:nvGrpSpPr>
          <p:cNvPr id="826357742" name="Group 19"/>
          <p:cNvGrpSpPr/>
          <p:nvPr/>
        </p:nvGrpSpPr>
        <p:grpSpPr bwMode="auto"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1</a:t>
              </a:r>
              <a:endParaRPr/>
            </a:p>
          </p:txBody>
        </p:sp>
      </p:grpSp>
      <p:grpSp>
        <p:nvGrpSpPr>
          <p:cNvPr id="1540939137" name="Group 22"/>
          <p:cNvGrpSpPr/>
          <p:nvPr/>
        </p:nvGrpSpPr>
        <p:grpSpPr bwMode="auto"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5</a:t>
              </a:r>
              <a:endParaRPr/>
            </a:p>
          </p:txBody>
        </p:sp>
      </p:grpSp>
      <p:grpSp>
        <p:nvGrpSpPr>
          <p:cNvPr id="642761066" name="Group 25"/>
          <p:cNvGrpSpPr/>
          <p:nvPr/>
        </p:nvGrpSpPr>
        <p:grpSpPr bwMode="auto"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2</a:t>
              </a:r>
              <a:endParaRPr/>
            </a:p>
          </p:txBody>
        </p:sp>
      </p:grpSp>
      <p:grpSp>
        <p:nvGrpSpPr>
          <p:cNvPr id="703991351" name="Group 28"/>
          <p:cNvGrpSpPr/>
          <p:nvPr/>
        </p:nvGrpSpPr>
        <p:grpSpPr bwMode="auto"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7</a:t>
              </a:r>
              <a:endParaRPr/>
            </a:p>
          </p:txBody>
        </p:sp>
      </p:grpSp>
      <p:grpSp>
        <p:nvGrpSpPr>
          <p:cNvPr id="325985134" name="Group 31"/>
          <p:cNvGrpSpPr/>
          <p:nvPr/>
        </p:nvGrpSpPr>
        <p:grpSpPr bwMode="auto"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6</a:t>
              </a:r>
              <a:endParaRPr/>
            </a:p>
          </p:txBody>
        </p:sp>
      </p:grpSp>
      <p:grpSp>
        <p:nvGrpSpPr>
          <p:cNvPr id="1865682379" name="Group 34"/>
          <p:cNvGrpSpPr/>
          <p:nvPr/>
        </p:nvGrpSpPr>
        <p:grpSpPr bwMode="auto"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TextBox 36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8</a:t>
              </a:r>
              <a:endParaRPr/>
            </a:p>
          </p:txBody>
        </p:sp>
      </p:grpSp>
      <p:grpSp>
        <p:nvGrpSpPr>
          <p:cNvPr id="364396289" name="Group 37"/>
          <p:cNvGrpSpPr/>
          <p:nvPr/>
        </p:nvGrpSpPr>
        <p:grpSpPr bwMode="auto"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TextBox 39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9</a:t>
              </a:r>
              <a:endParaRPr/>
            </a:p>
          </p:txBody>
        </p:sp>
      </p:grpSp>
      <p:sp>
        <p:nvSpPr>
          <p:cNvPr id="789700107" name="Freeform 10"/>
          <p:cNvSpPr/>
          <p:nvPr/>
        </p:nvSpPr>
        <p:spPr bwMode="auto"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 extrusionOk="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/>
          </a:blipFill>
        </p:spPr>
        <p:txBody>
          <a:bodyPr/>
          <a:lstStyle/>
          <a:p>
            <a:endParaRPr lang="en-IN"/>
          </a:p>
        </p:txBody>
      </p:sp>
      <p:sp>
        <p:nvSpPr>
          <p:cNvPr id="814998401" name="TextBox 45"/>
          <p:cNvSpPr txBox="1"/>
          <p:nvPr/>
        </p:nvSpPr>
        <p:spPr bwMode="auto"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4800" b="1">
                <a:solidFill>
                  <a:srgbClr val="0033CC"/>
                </a:solidFill>
                <a:latin typeface="Times New Roman"/>
                <a:cs typeface="Times New Roman"/>
              </a:rPr>
              <a:t>PROPOSED SYSTEM</a:t>
            </a:r>
            <a:endParaRPr lang="en-IN" sz="4800" b="1">
              <a:solidFill>
                <a:srgbClr val="0033CC"/>
              </a:solidFill>
              <a:latin typeface="Times New Roman"/>
              <a:cs typeface="Times New Roman"/>
            </a:endParaRPr>
          </a:p>
        </p:txBody>
      </p:sp>
      <p:sp>
        <p:nvSpPr>
          <p:cNvPr id="242510306" name="TextBox 47"/>
          <p:cNvSpPr txBox="1"/>
          <p:nvPr/>
        </p:nvSpPr>
        <p:spPr bwMode="auto">
          <a:xfrm>
            <a:off x="2056719" y="3288165"/>
            <a:ext cx="15084124" cy="29948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➤ Web-based centralized inventory management system.</a:t>
            </a:r>
            <a:b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</a:br>
            <a: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➤ Stores products, categories, suppliers, and transactions in relational tables.</a:t>
            </a:r>
            <a:b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</a:br>
            <a: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➤ Automatically updates stock during sales or purchases.</a:t>
            </a:r>
            <a:b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</a:br>
            <a: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➤ Low stock alert notification system.</a:t>
            </a:r>
            <a:b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</a:br>
            <a: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➤ Role-based login (Admin / Staff).</a:t>
            </a:r>
            <a:b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</a:br>
            <a: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➤ Generates real-time reports and analytics.</a:t>
            </a:r>
            <a:b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</a:br>
            <a: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➤ Secure authentication and authorization system.</a:t>
            </a:r>
            <a:endParaRPr sz="260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168106935" name="Group 5"/>
          <p:cNvGrpSpPr/>
          <p:nvPr/>
        </p:nvGrpSpPr>
        <p:grpSpPr bwMode="auto"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 bwMode="auto"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 bwMode="auto">
            <a:xfrm>
              <a:off x="76200" y="19050"/>
              <a:ext cx="660400" cy="717550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ts val="0"/>
                </a:spcBef>
                <a:defRPr/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</a:rPr>
                <a:t>5</a:t>
              </a:r>
              <a:endParaRPr/>
            </a:p>
          </p:txBody>
        </p:sp>
      </p:grpSp>
      <p:grpSp>
        <p:nvGrpSpPr>
          <p:cNvPr id="1730163198" name="Group 8"/>
          <p:cNvGrpSpPr/>
          <p:nvPr/>
        </p:nvGrpSpPr>
        <p:grpSpPr bwMode="auto"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3</a:t>
              </a:r>
              <a:endParaRPr/>
            </a:p>
          </p:txBody>
        </p:sp>
      </p:grpSp>
      <p:grpSp>
        <p:nvGrpSpPr>
          <p:cNvPr id="429926775" name="Group 11"/>
          <p:cNvGrpSpPr/>
          <p:nvPr/>
        </p:nvGrpSpPr>
        <p:grpSpPr bwMode="auto"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1</a:t>
              </a:r>
              <a:endParaRPr/>
            </a:p>
          </p:txBody>
        </p:sp>
      </p:grpSp>
      <p:grpSp>
        <p:nvGrpSpPr>
          <p:cNvPr id="508476791" name="Group 14"/>
          <p:cNvGrpSpPr/>
          <p:nvPr/>
        </p:nvGrpSpPr>
        <p:grpSpPr bwMode="auto"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4</a:t>
              </a:r>
              <a:endParaRPr/>
            </a:p>
          </p:txBody>
        </p:sp>
      </p:grpSp>
      <p:grpSp>
        <p:nvGrpSpPr>
          <p:cNvPr id="624539317" name="Group 17"/>
          <p:cNvGrpSpPr/>
          <p:nvPr/>
        </p:nvGrpSpPr>
        <p:grpSpPr bwMode="auto"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2</a:t>
              </a:r>
              <a:endParaRPr/>
            </a:p>
          </p:txBody>
        </p:sp>
      </p:grpSp>
      <p:grpSp>
        <p:nvGrpSpPr>
          <p:cNvPr id="1547810575" name="Group 20"/>
          <p:cNvGrpSpPr/>
          <p:nvPr/>
        </p:nvGrpSpPr>
        <p:grpSpPr bwMode="auto"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7</a:t>
              </a:r>
              <a:endParaRPr/>
            </a:p>
          </p:txBody>
        </p:sp>
      </p:grpSp>
      <p:grpSp>
        <p:nvGrpSpPr>
          <p:cNvPr id="810246610" name="Group 23"/>
          <p:cNvGrpSpPr/>
          <p:nvPr/>
        </p:nvGrpSpPr>
        <p:grpSpPr bwMode="auto"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6</a:t>
              </a:r>
              <a:endParaRPr/>
            </a:p>
          </p:txBody>
        </p:sp>
      </p:grpSp>
      <p:grpSp>
        <p:nvGrpSpPr>
          <p:cNvPr id="792672995" name="Group 26"/>
          <p:cNvGrpSpPr/>
          <p:nvPr/>
        </p:nvGrpSpPr>
        <p:grpSpPr bwMode="auto"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8</a:t>
              </a:r>
              <a:endParaRPr/>
            </a:p>
          </p:txBody>
        </p:sp>
      </p:grpSp>
      <p:grpSp>
        <p:nvGrpSpPr>
          <p:cNvPr id="1053414636" name="Group 29"/>
          <p:cNvGrpSpPr/>
          <p:nvPr/>
        </p:nvGrpSpPr>
        <p:grpSpPr bwMode="auto"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9</a:t>
              </a:r>
              <a:endParaRPr/>
            </a:p>
          </p:txBody>
        </p:sp>
      </p:grpSp>
      <p:grpSp>
        <p:nvGrpSpPr>
          <p:cNvPr id="1655840950" name="Group 37"/>
          <p:cNvGrpSpPr/>
          <p:nvPr/>
        </p:nvGrpSpPr>
        <p:grpSpPr bwMode="auto"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 bwMode="auto"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pFill/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TextBox 39"/>
            <p:cNvSpPr txBox="1"/>
            <p:nvPr/>
          </p:nvSpPr>
          <p:spPr bwMode="auto">
            <a:xfrm>
              <a:off x="76200" y="47625"/>
              <a:ext cx="660400" cy="68897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defRPr/>
              </a:pPr>
              <a:endParaRPr/>
            </a:p>
          </p:txBody>
        </p:sp>
      </p:grpSp>
      <p:sp>
        <p:nvSpPr>
          <p:cNvPr id="2078007449" name="Freeform 10"/>
          <p:cNvSpPr/>
          <p:nvPr/>
        </p:nvSpPr>
        <p:spPr bwMode="auto"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 extrusionOk="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/>
          </a:blipFill>
        </p:spPr>
        <p:txBody>
          <a:bodyPr/>
          <a:lstStyle/>
          <a:p>
            <a:endParaRPr lang="en-IN"/>
          </a:p>
        </p:txBody>
      </p:sp>
      <p:sp>
        <p:nvSpPr>
          <p:cNvPr id="462853666" name="TextBox 41"/>
          <p:cNvSpPr txBox="1"/>
          <p:nvPr/>
        </p:nvSpPr>
        <p:spPr bwMode="auto"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4800" b="1">
                <a:solidFill>
                  <a:srgbClr val="0033CC"/>
                </a:solidFill>
                <a:latin typeface="Times New Roman"/>
                <a:cs typeface="Times New Roman"/>
              </a:rPr>
              <a:t>PROPOSED SYSTEM ARCHITECTURE</a:t>
            </a:r>
            <a:endParaRPr lang="en-IN" sz="4800" b="1">
              <a:solidFill>
                <a:srgbClr val="0033CC"/>
              </a:solidFill>
              <a:latin typeface="Times New Roman"/>
              <a:cs typeface="Times New Roman"/>
            </a:endParaRPr>
          </a:p>
        </p:txBody>
      </p:sp>
      <p:sp>
        <p:nvSpPr>
          <p:cNvPr id="1276929438" name="TextBox 42"/>
          <p:cNvSpPr txBox="1"/>
          <p:nvPr/>
        </p:nvSpPr>
        <p:spPr bwMode="auto">
          <a:xfrm>
            <a:off x="1954665" y="2369683"/>
            <a:ext cx="15085924" cy="52429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sz="2600" b="1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Input:</a:t>
            </a:r>
            <a:br>
              <a:rPr sz="2600" b="1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</a:br>
            <a: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User enters product details, supplier details, and transaction data.</a:t>
            </a:r>
            <a:endParaRPr sz="26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sz="2600" b="1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Processing:</a:t>
            </a:r>
            <a:b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</a:br>
            <a: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System processes stock-in and stock-out transactions and updates database.</a:t>
            </a:r>
            <a:endParaRPr sz="26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sz="2600" b="1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Database:</a:t>
            </a:r>
            <a:b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</a:br>
            <a: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Relational Database (MySQL) stores:</a:t>
            </a:r>
            <a:endParaRPr sz="26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Products Table</a:t>
            </a:r>
            <a:endParaRPr sz="26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Suppliers Table</a:t>
            </a:r>
            <a:endParaRPr sz="26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Customers Table</a:t>
            </a:r>
            <a:endParaRPr sz="26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Transactions Table</a:t>
            </a:r>
            <a:endParaRPr sz="26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Users Table</a:t>
            </a:r>
            <a:endParaRPr sz="26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sz="2600" b="1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Output:</a:t>
            </a:r>
            <a:br>
              <a:rPr sz="2600" b="1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</a:br>
            <a: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Updated stock levels, reports, alerts, and dashboards.</a:t>
            </a:r>
            <a:endParaRPr sz="260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462233124" name="Group 14"/>
          <p:cNvGrpSpPr/>
          <p:nvPr/>
        </p:nvGrpSpPr>
        <p:grpSpPr bwMode="auto">
          <a:xfrm>
            <a:off x="735588" y="5318634"/>
            <a:ext cx="992463" cy="99246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 bwMode="auto"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 bwMode="auto">
            <a:xfrm>
              <a:off x="76200" y="19050"/>
              <a:ext cx="660400" cy="717550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ts val="0"/>
                </a:spcBef>
                <a:defRPr/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</a:rPr>
                <a:t>6</a:t>
              </a:r>
              <a:endParaRPr/>
            </a:p>
          </p:txBody>
        </p:sp>
      </p:grpSp>
      <p:grpSp>
        <p:nvGrpSpPr>
          <p:cNvPr id="455943787" name="Group 17"/>
          <p:cNvGrpSpPr/>
          <p:nvPr/>
        </p:nvGrpSpPr>
        <p:grpSpPr bwMode="auto"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3</a:t>
              </a:r>
              <a:endParaRPr/>
            </a:p>
          </p:txBody>
        </p:sp>
      </p:grpSp>
      <p:grpSp>
        <p:nvGrpSpPr>
          <p:cNvPr id="177770123" name="Group 20"/>
          <p:cNvGrpSpPr/>
          <p:nvPr/>
        </p:nvGrpSpPr>
        <p:grpSpPr bwMode="auto"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1</a:t>
              </a:r>
              <a:endParaRPr/>
            </a:p>
          </p:txBody>
        </p:sp>
      </p:grpSp>
      <p:grpSp>
        <p:nvGrpSpPr>
          <p:cNvPr id="2088081493" name="Group 23"/>
          <p:cNvGrpSpPr/>
          <p:nvPr/>
        </p:nvGrpSpPr>
        <p:grpSpPr bwMode="auto"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4</a:t>
              </a:r>
              <a:endParaRPr/>
            </a:p>
          </p:txBody>
        </p:sp>
      </p:grpSp>
      <p:grpSp>
        <p:nvGrpSpPr>
          <p:cNvPr id="477243406" name="Group 26"/>
          <p:cNvGrpSpPr/>
          <p:nvPr/>
        </p:nvGrpSpPr>
        <p:grpSpPr bwMode="auto"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2</a:t>
              </a:r>
              <a:endParaRPr/>
            </a:p>
          </p:txBody>
        </p:sp>
      </p:grpSp>
      <p:grpSp>
        <p:nvGrpSpPr>
          <p:cNvPr id="683676111" name="Group 29"/>
          <p:cNvGrpSpPr/>
          <p:nvPr/>
        </p:nvGrpSpPr>
        <p:grpSpPr bwMode="auto">
          <a:xfrm>
            <a:off x="977741" y="6425585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7</a:t>
              </a:r>
              <a:endParaRPr/>
            </a:p>
          </p:txBody>
        </p:sp>
      </p:grpSp>
      <p:grpSp>
        <p:nvGrpSpPr>
          <p:cNvPr id="207549048" name="Group 32"/>
          <p:cNvGrpSpPr/>
          <p:nvPr/>
        </p:nvGrpSpPr>
        <p:grpSpPr bwMode="auto"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3" name="Freeform 33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TextBox 34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5</a:t>
              </a:r>
              <a:endParaRPr/>
            </a:p>
          </p:txBody>
        </p:sp>
      </p:grpSp>
      <p:grpSp>
        <p:nvGrpSpPr>
          <p:cNvPr id="1903239847" name="Group 37"/>
          <p:cNvGrpSpPr/>
          <p:nvPr/>
        </p:nvGrpSpPr>
        <p:grpSpPr bwMode="auto"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TextBox 39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8</a:t>
              </a:r>
              <a:endParaRPr/>
            </a:p>
          </p:txBody>
        </p:sp>
      </p:grpSp>
      <p:grpSp>
        <p:nvGrpSpPr>
          <p:cNvPr id="1115150261" name="Group 40"/>
          <p:cNvGrpSpPr/>
          <p:nvPr/>
        </p:nvGrpSpPr>
        <p:grpSpPr bwMode="auto"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2" name="TextBox 42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9</a:t>
              </a:r>
              <a:endParaRPr/>
            </a:p>
          </p:txBody>
        </p:sp>
      </p:grpSp>
      <p:sp>
        <p:nvSpPr>
          <p:cNvPr id="1800515939" name="Freeform 10"/>
          <p:cNvSpPr/>
          <p:nvPr/>
        </p:nvSpPr>
        <p:spPr bwMode="auto"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 extrusionOk="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/>
          </a:blipFill>
        </p:spPr>
        <p:txBody>
          <a:bodyPr/>
          <a:lstStyle/>
          <a:p>
            <a:endParaRPr lang="en-IN"/>
          </a:p>
        </p:txBody>
      </p:sp>
      <p:sp>
        <p:nvSpPr>
          <p:cNvPr id="1736545870" name="TextBox 46"/>
          <p:cNvSpPr txBox="1"/>
          <p:nvPr/>
        </p:nvSpPr>
        <p:spPr bwMode="auto">
          <a:xfrm>
            <a:off x="190500" y="31593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4800" b="1">
                <a:solidFill>
                  <a:srgbClr val="0033CC"/>
                </a:solidFill>
                <a:latin typeface="Times New Roman"/>
                <a:cs typeface="Times New Roman"/>
              </a:rPr>
              <a:t>WORKFLOW</a:t>
            </a:r>
            <a:endParaRPr lang="en-IN" sz="4800" b="1">
              <a:solidFill>
                <a:srgbClr val="0033CC"/>
              </a:solidFill>
              <a:latin typeface="Times New Roman"/>
              <a:cs typeface="Times New Roman"/>
            </a:endParaRPr>
          </a:p>
        </p:txBody>
      </p:sp>
      <p:sp>
        <p:nvSpPr>
          <p:cNvPr id="2018438268" name="TextBox 49"/>
          <p:cNvSpPr txBox="1"/>
          <p:nvPr/>
        </p:nvSpPr>
        <p:spPr bwMode="auto">
          <a:xfrm>
            <a:off x="2209799" y="1638299"/>
            <a:ext cx="15101404" cy="52429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[User Login]</a:t>
            </a:r>
            <a:b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</a:br>
            <a: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       ↓</a:t>
            </a:r>
            <a:b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</a:br>
            <a: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[Add / Update Product]</a:t>
            </a:r>
            <a:b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</a:br>
            <a: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       ↓</a:t>
            </a:r>
            <a:b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</a:br>
            <a: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[Stock In (Purchase)]</a:t>
            </a:r>
            <a:b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</a:br>
            <a: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       ↓</a:t>
            </a:r>
            <a:b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</a:br>
            <a: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[Stock Out (Sale)]</a:t>
            </a:r>
            <a:b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</a:br>
            <a: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       ↓</a:t>
            </a:r>
            <a:b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</a:br>
            <a: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[Automatic Stock Update]</a:t>
            </a:r>
            <a:b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</a:br>
            <a: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       ↓</a:t>
            </a:r>
            <a:b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</a:br>
            <a: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[Report Generation]</a:t>
            </a:r>
            <a:b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</a:br>
            <a: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       ↓</a:t>
            </a:r>
            <a:b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</a:br>
            <a: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[Logout]</a:t>
            </a:r>
            <a:endParaRPr sz="260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611520958" name="Group 19"/>
          <p:cNvGrpSpPr/>
          <p:nvPr/>
        </p:nvGrpSpPr>
        <p:grpSpPr bwMode="auto">
          <a:xfrm>
            <a:off x="735588" y="5976927"/>
            <a:ext cx="992463" cy="99246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 bwMode="auto"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 bwMode="auto">
            <a:xfrm>
              <a:off x="76200" y="19050"/>
              <a:ext cx="660400" cy="717550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ts val="0"/>
                </a:spcBef>
                <a:defRPr/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</a:rPr>
                <a:t>7</a:t>
              </a:r>
              <a:endParaRPr/>
            </a:p>
          </p:txBody>
        </p:sp>
      </p:grpSp>
      <p:grpSp>
        <p:nvGrpSpPr>
          <p:cNvPr id="438601397" name="Group 22"/>
          <p:cNvGrpSpPr/>
          <p:nvPr/>
        </p:nvGrpSpPr>
        <p:grpSpPr bwMode="auto"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3</a:t>
              </a:r>
              <a:endParaRPr/>
            </a:p>
          </p:txBody>
        </p:sp>
      </p:grpSp>
      <p:grpSp>
        <p:nvGrpSpPr>
          <p:cNvPr id="1360982626" name="Group 25"/>
          <p:cNvGrpSpPr/>
          <p:nvPr/>
        </p:nvGrpSpPr>
        <p:grpSpPr bwMode="auto"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1</a:t>
              </a:r>
              <a:endParaRPr/>
            </a:p>
          </p:txBody>
        </p:sp>
      </p:grpSp>
      <p:grpSp>
        <p:nvGrpSpPr>
          <p:cNvPr id="1679419803" name="Group 28"/>
          <p:cNvGrpSpPr/>
          <p:nvPr/>
        </p:nvGrpSpPr>
        <p:grpSpPr bwMode="auto"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4</a:t>
              </a:r>
              <a:endParaRPr/>
            </a:p>
          </p:txBody>
        </p:sp>
      </p:grpSp>
      <p:grpSp>
        <p:nvGrpSpPr>
          <p:cNvPr id="319520398" name="Group 31"/>
          <p:cNvGrpSpPr/>
          <p:nvPr/>
        </p:nvGrpSpPr>
        <p:grpSpPr bwMode="auto"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2</a:t>
              </a:r>
              <a:endParaRPr/>
            </a:p>
          </p:txBody>
        </p:sp>
      </p:grpSp>
      <p:grpSp>
        <p:nvGrpSpPr>
          <p:cNvPr id="323859112" name="Group 34"/>
          <p:cNvGrpSpPr/>
          <p:nvPr/>
        </p:nvGrpSpPr>
        <p:grpSpPr bwMode="auto"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TextBox 36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6</a:t>
              </a:r>
              <a:endParaRPr/>
            </a:p>
          </p:txBody>
        </p:sp>
      </p:grpSp>
      <p:grpSp>
        <p:nvGrpSpPr>
          <p:cNvPr id="420764731" name="Group 37"/>
          <p:cNvGrpSpPr/>
          <p:nvPr/>
        </p:nvGrpSpPr>
        <p:grpSpPr bwMode="auto"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TextBox 39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5</a:t>
              </a:r>
              <a:endParaRPr/>
            </a:p>
          </p:txBody>
        </p:sp>
      </p:grpSp>
      <p:grpSp>
        <p:nvGrpSpPr>
          <p:cNvPr id="568845756" name="Group 40"/>
          <p:cNvGrpSpPr/>
          <p:nvPr/>
        </p:nvGrpSpPr>
        <p:grpSpPr bwMode="auto"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2" name="TextBox 42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8</a:t>
              </a:r>
              <a:endParaRPr/>
            </a:p>
          </p:txBody>
        </p:sp>
      </p:grpSp>
      <p:grpSp>
        <p:nvGrpSpPr>
          <p:cNvPr id="559072354" name="Group 43"/>
          <p:cNvGrpSpPr/>
          <p:nvPr/>
        </p:nvGrpSpPr>
        <p:grpSpPr bwMode="auto"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4" name="Freeform 44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5" name="TextBox 45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9</a:t>
              </a:r>
              <a:endParaRPr/>
            </a:p>
          </p:txBody>
        </p:sp>
      </p:grpSp>
      <p:sp>
        <p:nvSpPr>
          <p:cNvPr id="1004287450" name="Freeform 10"/>
          <p:cNvSpPr/>
          <p:nvPr/>
        </p:nvSpPr>
        <p:spPr bwMode="auto"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 extrusionOk="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/>
          </a:blipFill>
        </p:spPr>
        <p:txBody>
          <a:bodyPr/>
          <a:lstStyle/>
          <a:p>
            <a:endParaRPr lang="en-IN"/>
          </a:p>
        </p:txBody>
      </p:sp>
      <p:sp>
        <p:nvSpPr>
          <p:cNvPr id="2140626990" name="TextBox 46"/>
          <p:cNvSpPr txBox="1"/>
          <p:nvPr/>
        </p:nvSpPr>
        <p:spPr bwMode="auto"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4800" b="1">
                <a:solidFill>
                  <a:srgbClr val="0033CC"/>
                </a:solidFill>
                <a:latin typeface="Times New Roman"/>
                <a:cs typeface="Times New Roman"/>
              </a:rPr>
              <a:t>TECHNOLOGIES USED</a:t>
            </a:r>
            <a:endParaRPr lang="en-IN" sz="4800" b="1">
              <a:solidFill>
                <a:srgbClr val="0033CC"/>
              </a:solidFill>
              <a:latin typeface="Times New Roman"/>
              <a:cs typeface="Times New Roman"/>
            </a:endParaRPr>
          </a:p>
        </p:txBody>
      </p:sp>
      <p:sp>
        <p:nvSpPr>
          <p:cNvPr id="615263755" name="TextBox 47"/>
          <p:cNvSpPr txBox="1"/>
          <p:nvPr/>
        </p:nvSpPr>
        <p:spPr bwMode="auto">
          <a:xfrm>
            <a:off x="2056719" y="2063522"/>
            <a:ext cx="15085924" cy="61278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➤ </a:t>
            </a:r>
            <a:r>
              <a:rPr sz="2600" b="1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Frontend:</a:t>
            </a:r>
            <a:b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</a:br>
            <a: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HTML, CSS, JavaScript</a:t>
            </a:r>
            <a:endParaRPr sz="26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➤ </a:t>
            </a:r>
            <a:r>
              <a:rPr sz="2600" b="1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Backend:</a:t>
            </a:r>
            <a:b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</a:br>
            <a: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Java (Spring Boot)</a:t>
            </a:r>
            <a:endParaRPr sz="26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➤ </a:t>
            </a:r>
            <a:r>
              <a:rPr sz="2600" b="1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Database:</a:t>
            </a:r>
            <a:b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</a:br>
            <a: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MySQL (Relational Database)</a:t>
            </a:r>
            <a:endParaRPr sz="26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➤ </a:t>
            </a:r>
            <a:r>
              <a:rPr sz="2600" b="1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Tools:</a:t>
            </a:r>
            <a:br>
              <a:rPr sz="2600" b="1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</a:br>
            <a: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VS Code / Eclipse</a:t>
            </a:r>
            <a:b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</a:br>
            <a: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MySQL Workbench</a:t>
            </a:r>
            <a:b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</a:br>
            <a: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Apache Tomcat</a:t>
            </a:r>
            <a:b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</a:br>
            <a: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Git</a:t>
            </a:r>
            <a:endParaRPr sz="26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➤ </a:t>
            </a:r>
            <a:r>
              <a:rPr sz="2600" b="1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Hardware Requirements:</a:t>
            </a:r>
            <a:br>
              <a:rPr sz="2600" b="1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</a:br>
            <a: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Minimum 4GB RAM</a:t>
            </a:r>
            <a:b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</a:br>
            <a: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Dual-Core Processor</a:t>
            </a:r>
            <a:b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</a:br>
            <a: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Windows/Linux OS</a:t>
            </a:r>
            <a:endParaRPr sz="260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648605706" name="Group 7"/>
          <p:cNvGrpSpPr/>
          <p:nvPr/>
        </p:nvGrpSpPr>
        <p:grpSpPr bwMode="auto"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 bwMode="auto"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 bwMode="auto">
            <a:xfrm>
              <a:off x="76200" y="19050"/>
              <a:ext cx="660400" cy="717550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ts val="0"/>
                </a:spcBef>
                <a:defRPr/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</a:rPr>
                <a:t>8</a:t>
              </a:r>
              <a:endParaRPr/>
            </a:p>
          </p:txBody>
        </p:sp>
      </p:grpSp>
      <p:grpSp>
        <p:nvGrpSpPr>
          <p:cNvPr id="564014715" name="Group 10"/>
          <p:cNvGrpSpPr/>
          <p:nvPr/>
        </p:nvGrpSpPr>
        <p:grpSpPr bwMode="auto"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3</a:t>
              </a:r>
              <a:endParaRPr/>
            </a:p>
          </p:txBody>
        </p:sp>
      </p:grpSp>
      <p:grpSp>
        <p:nvGrpSpPr>
          <p:cNvPr id="1702796945" name="Group 13"/>
          <p:cNvGrpSpPr/>
          <p:nvPr/>
        </p:nvGrpSpPr>
        <p:grpSpPr bwMode="auto"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1</a:t>
              </a:r>
              <a:endParaRPr/>
            </a:p>
          </p:txBody>
        </p:sp>
      </p:grpSp>
      <p:grpSp>
        <p:nvGrpSpPr>
          <p:cNvPr id="379880494" name="Group 16"/>
          <p:cNvGrpSpPr/>
          <p:nvPr/>
        </p:nvGrpSpPr>
        <p:grpSpPr bwMode="auto"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4</a:t>
              </a:r>
              <a:endParaRPr/>
            </a:p>
          </p:txBody>
        </p:sp>
      </p:grpSp>
      <p:grpSp>
        <p:nvGrpSpPr>
          <p:cNvPr id="1316201360" name="Group 19"/>
          <p:cNvGrpSpPr/>
          <p:nvPr/>
        </p:nvGrpSpPr>
        <p:grpSpPr bwMode="auto"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2</a:t>
              </a:r>
              <a:endParaRPr/>
            </a:p>
          </p:txBody>
        </p:sp>
      </p:grpSp>
      <p:grpSp>
        <p:nvGrpSpPr>
          <p:cNvPr id="1794418479" name="Group 22"/>
          <p:cNvGrpSpPr/>
          <p:nvPr/>
        </p:nvGrpSpPr>
        <p:grpSpPr bwMode="auto"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6</a:t>
              </a:r>
              <a:endParaRPr/>
            </a:p>
          </p:txBody>
        </p:sp>
      </p:grpSp>
      <p:grpSp>
        <p:nvGrpSpPr>
          <p:cNvPr id="1017050075" name="Group 25"/>
          <p:cNvGrpSpPr/>
          <p:nvPr/>
        </p:nvGrpSpPr>
        <p:grpSpPr bwMode="auto"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5</a:t>
              </a:r>
              <a:endParaRPr/>
            </a:p>
          </p:txBody>
        </p:sp>
      </p:grpSp>
      <p:grpSp>
        <p:nvGrpSpPr>
          <p:cNvPr id="1469161803" name="Group 28"/>
          <p:cNvGrpSpPr/>
          <p:nvPr/>
        </p:nvGrpSpPr>
        <p:grpSpPr bwMode="auto"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7</a:t>
              </a:r>
              <a:endParaRPr/>
            </a:p>
          </p:txBody>
        </p:sp>
      </p:grpSp>
      <p:grpSp>
        <p:nvGrpSpPr>
          <p:cNvPr id="1468135412" name="Group 31"/>
          <p:cNvGrpSpPr/>
          <p:nvPr/>
        </p:nvGrpSpPr>
        <p:grpSpPr bwMode="auto"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9</a:t>
              </a:r>
              <a:endParaRPr/>
            </a:p>
          </p:txBody>
        </p:sp>
      </p:grpSp>
      <p:sp>
        <p:nvSpPr>
          <p:cNvPr id="1030134516" name="Freeform 34"/>
          <p:cNvSpPr/>
          <p:nvPr/>
        </p:nvSpPr>
        <p:spPr bwMode="auto"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 extrusionOk="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/>
          </a:blipFill>
        </p:spPr>
        <p:txBody>
          <a:bodyPr/>
          <a:lstStyle/>
          <a:p>
            <a:endParaRPr lang="en-IN"/>
          </a:p>
        </p:txBody>
      </p:sp>
      <p:grpSp>
        <p:nvGrpSpPr>
          <p:cNvPr id="2083559253" name="Group 35"/>
          <p:cNvGrpSpPr/>
          <p:nvPr/>
        </p:nvGrpSpPr>
        <p:grpSpPr bwMode="auto"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 bwMode="auto"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pFill/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/>
            <p:cNvSpPr txBox="1"/>
            <p:nvPr/>
          </p:nvSpPr>
          <p:spPr bwMode="auto">
            <a:xfrm>
              <a:off x="76200" y="47625"/>
              <a:ext cx="660400" cy="68897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defRPr/>
              </a:pPr>
              <a:endParaRPr/>
            </a:p>
          </p:txBody>
        </p:sp>
      </p:grpSp>
      <p:sp>
        <p:nvSpPr>
          <p:cNvPr id="998213641" name="TextBox 42"/>
          <p:cNvSpPr txBox="1"/>
          <p:nvPr/>
        </p:nvSpPr>
        <p:spPr bwMode="auto"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4800" b="1">
                <a:solidFill>
                  <a:srgbClr val="0033CC"/>
                </a:solidFill>
                <a:latin typeface="Times New Roman"/>
                <a:cs typeface="Times New Roman"/>
              </a:rPr>
              <a:t>MODULE DESCRIPTION</a:t>
            </a:r>
            <a:endParaRPr lang="en-IN" sz="4800" b="1">
              <a:solidFill>
                <a:srgbClr val="0033CC"/>
              </a:solidFill>
              <a:latin typeface="Times New Roman"/>
              <a:cs typeface="Times New Roman"/>
            </a:endParaRPr>
          </a:p>
        </p:txBody>
      </p:sp>
      <p:sp>
        <p:nvSpPr>
          <p:cNvPr id="587454516" name="TextBox 43"/>
          <p:cNvSpPr txBox="1"/>
          <p:nvPr/>
        </p:nvSpPr>
        <p:spPr bwMode="auto">
          <a:xfrm>
            <a:off x="2209799" y="1638299"/>
            <a:ext cx="15086644" cy="81090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➤ </a:t>
            </a:r>
            <a:r>
              <a:rPr sz="2600" b="1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Module 1: </a:t>
            </a:r>
            <a: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User Management</a:t>
            </a:r>
            <a:b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</a:br>
            <a: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• Admin Login</a:t>
            </a:r>
            <a:b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</a:br>
            <a: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• Role-based Authentication</a:t>
            </a:r>
            <a:endParaRPr sz="26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➤ </a:t>
            </a:r>
            <a:r>
              <a:rPr sz="2600" b="1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Module 2:</a:t>
            </a:r>
            <a: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Product Management</a:t>
            </a:r>
            <a:b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</a:br>
            <a: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• Add Product</a:t>
            </a:r>
            <a:b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</a:br>
            <a: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• Update Product</a:t>
            </a:r>
            <a:b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</a:br>
            <a: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• Delete Product</a:t>
            </a:r>
            <a:b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</a:br>
            <a: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• View Product</a:t>
            </a:r>
            <a:endParaRPr sz="26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➤ </a:t>
            </a:r>
            <a:r>
              <a:rPr sz="2600" b="1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Module 3: </a:t>
            </a:r>
            <a: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Supplier &amp; Purchase Module</a:t>
            </a:r>
            <a:b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</a:br>
            <a: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• Add Supplier</a:t>
            </a:r>
            <a:b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</a:br>
            <a: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• Record Purchase</a:t>
            </a:r>
            <a:b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</a:br>
            <a: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• Update Stock Automatically</a:t>
            </a:r>
            <a:endParaRPr sz="26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➤ </a:t>
            </a:r>
            <a:r>
              <a:rPr sz="2600" b="1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Module 4:</a:t>
            </a:r>
            <a: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Sales &amp; Billing Module</a:t>
            </a:r>
            <a:b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</a:br>
            <a: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• Record Sales</a:t>
            </a:r>
            <a:b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</a:br>
            <a: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• Reduce Stock Automatically</a:t>
            </a:r>
            <a:b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</a:br>
            <a: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• Generate Invoice</a:t>
            </a:r>
            <a:endParaRPr sz="26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➤ </a:t>
            </a:r>
            <a:r>
              <a:rPr sz="2600" b="1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Module 5:</a:t>
            </a:r>
            <a: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Reporting Module</a:t>
            </a:r>
            <a:b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</a:br>
            <a: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• Stock Report</a:t>
            </a:r>
            <a:b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</a:br>
            <a: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• Sales Report</a:t>
            </a:r>
            <a:b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</a:br>
            <a: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• Low Stock Alert</a:t>
            </a:r>
            <a:endParaRPr sz="260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321061688" name="Group 7"/>
          <p:cNvGrpSpPr/>
          <p:nvPr/>
        </p:nvGrpSpPr>
        <p:grpSpPr bwMode="auto"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 bwMode="auto"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 bwMode="auto">
            <a:xfrm>
              <a:off x="76200" y="19050"/>
              <a:ext cx="660400" cy="717550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ts val="0"/>
                </a:spcBef>
                <a:defRPr/>
              </a:pPr>
              <a:r>
                <a:rPr lang="en-US" sz="2400" b="1">
                  <a:solidFill>
                    <a:srgbClr val="002060"/>
                  </a:solidFill>
                  <a:latin typeface="Gotham"/>
                  <a:ea typeface="Gotham"/>
                  <a:cs typeface="Gotham"/>
                </a:rPr>
                <a:t>8</a:t>
              </a:r>
              <a:endParaRPr/>
            </a:p>
          </p:txBody>
        </p:sp>
      </p:grpSp>
      <p:grpSp>
        <p:nvGrpSpPr>
          <p:cNvPr id="1932316486" name="Group 10"/>
          <p:cNvGrpSpPr/>
          <p:nvPr/>
        </p:nvGrpSpPr>
        <p:grpSpPr bwMode="auto"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3</a:t>
              </a:r>
              <a:endParaRPr/>
            </a:p>
          </p:txBody>
        </p:sp>
      </p:grpSp>
      <p:grpSp>
        <p:nvGrpSpPr>
          <p:cNvPr id="1956800116" name="Group 13"/>
          <p:cNvGrpSpPr/>
          <p:nvPr/>
        </p:nvGrpSpPr>
        <p:grpSpPr bwMode="auto"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1</a:t>
              </a:r>
              <a:endParaRPr/>
            </a:p>
          </p:txBody>
        </p:sp>
      </p:grpSp>
      <p:grpSp>
        <p:nvGrpSpPr>
          <p:cNvPr id="750934046" name="Group 16"/>
          <p:cNvGrpSpPr/>
          <p:nvPr/>
        </p:nvGrpSpPr>
        <p:grpSpPr bwMode="auto"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4</a:t>
              </a:r>
              <a:endParaRPr/>
            </a:p>
          </p:txBody>
        </p:sp>
      </p:grpSp>
      <p:grpSp>
        <p:nvGrpSpPr>
          <p:cNvPr id="1953859092" name="Group 19"/>
          <p:cNvGrpSpPr/>
          <p:nvPr/>
        </p:nvGrpSpPr>
        <p:grpSpPr bwMode="auto"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2</a:t>
              </a:r>
              <a:endParaRPr/>
            </a:p>
          </p:txBody>
        </p:sp>
      </p:grpSp>
      <p:grpSp>
        <p:nvGrpSpPr>
          <p:cNvPr id="759420999" name="Group 22"/>
          <p:cNvGrpSpPr/>
          <p:nvPr/>
        </p:nvGrpSpPr>
        <p:grpSpPr bwMode="auto"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6</a:t>
              </a:r>
              <a:endParaRPr/>
            </a:p>
          </p:txBody>
        </p:sp>
      </p:grpSp>
      <p:grpSp>
        <p:nvGrpSpPr>
          <p:cNvPr id="1080915097" name="Group 25"/>
          <p:cNvGrpSpPr/>
          <p:nvPr/>
        </p:nvGrpSpPr>
        <p:grpSpPr bwMode="auto"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5</a:t>
              </a:r>
              <a:endParaRPr/>
            </a:p>
          </p:txBody>
        </p:sp>
      </p:grpSp>
      <p:grpSp>
        <p:nvGrpSpPr>
          <p:cNvPr id="1824701843" name="Group 28"/>
          <p:cNvGrpSpPr/>
          <p:nvPr/>
        </p:nvGrpSpPr>
        <p:grpSpPr bwMode="auto"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7</a:t>
              </a:r>
              <a:endParaRPr/>
            </a:p>
          </p:txBody>
        </p:sp>
      </p:grpSp>
      <p:grpSp>
        <p:nvGrpSpPr>
          <p:cNvPr id="706710105" name="Group 31"/>
          <p:cNvGrpSpPr/>
          <p:nvPr/>
        </p:nvGrpSpPr>
        <p:grpSpPr bwMode="auto"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9</a:t>
              </a:r>
              <a:endParaRPr/>
            </a:p>
          </p:txBody>
        </p:sp>
      </p:grpSp>
      <p:sp>
        <p:nvSpPr>
          <p:cNvPr id="1211699418" name="Freeform 34"/>
          <p:cNvSpPr/>
          <p:nvPr/>
        </p:nvSpPr>
        <p:spPr bwMode="auto"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 extrusionOk="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/>
          </a:blipFill>
        </p:spPr>
        <p:txBody>
          <a:bodyPr/>
          <a:lstStyle/>
          <a:p>
            <a:endParaRPr lang="en-IN"/>
          </a:p>
        </p:txBody>
      </p:sp>
      <p:grpSp>
        <p:nvGrpSpPr>
          <p:cNvPr id="337712318" name="Group 35"/>
          <p:cNvGrpSpPr/>
          <p:nvPr/>
        </p:nvGrpSpPr>
        <p:grpSpPr bwMode="auto"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 bwMode="auto"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pFill/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/>
            <p:cNvSpPr txBox="1"/>
            <p:nvPr/>
          </p:nvSpPr>
          <p:spPr bwMode="auto">
            <a:xfrm>
              <a:off x="76200" y="47625"/>
              <a:ext cx="660400" cy="68897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defRPr/>
              </a:pPr>
              <a:endParaRPr/>
            </a:p>
          </p:txBody>
        </p:sp>
      </p:grpSp>
      <p:sp>
        <p:nvSpPr>
          <p:cNvPr id="1552110704" name="TextBox 42"/>
          <p:cNvSpPr txBox="1"/>
          <p:nvPr/>
        </p:nvSpPr>
        <p:spPr bwMode="auto"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4800" b="1">
                <a:solidFill>
                  <a:srgbClr val="0033CC"/>
                </a:solidFill>
                <a:latin typeface="Times New Roman"/>
                <a:cs typeface="Times New Roman"/>
              </a:rPr>
              <a:t>IMPLEMENTATION SCREENSHOTS</a:t>
            </a:r>
            <a:endParaRPr lang="en-IN" sz="4800" b="1">
              <a:solidFill>
                <a:srgbClr val="0033CC"/>
              </a:solidFill>
              <a:latin typeface="Times New Roman"/>
              <a:cs typeface="Times New Roman"/>
            </a:endParaRPr>
          </a:p>
        </p:txBody>
      </p:sp>
      <p:sp>
        <p:nvSpPr>
          <p:cNvPr id="1769971289" name="TextBox 43"/>
          <p:cNvSpPr txBox="1"/>
          <p:nvPr/>
        </p:nvSpPr>
        <p:spPr bwMode="auto">
          <a:xfrm>
            <a:off x="2209800" y="1638300"/>
            <a:ext cx="15082325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endParaRPr dirty="0"/>
          </a:p>
          <a:p>
            <a:pPr marL="457200" indent="-457200">
              <a:buFontTx/>
              <a:buChar char="-"/>
              <a:defRPr/>
            </a:pPr>
            <a:endParaRPr lang="en-US" sz="2800" dirty="0"/>
          </a:p>
          <a:p>
            <a:pPr marL="457200" indent="-457200">
              <a:buFontTx/>
              <a:buChar char="-"/>
              <a:defRPr/>
            </a:pPr>
            <a:endParaRPr lang="en-US" sz="2800" dirty="0"/>
          </a:p>
          <a:p>
            <a:pPr marL="457200" indent="-457200">
              <a:buFontTx/>
              <a:buChar char="-"/>
              <a:defRPr/>
            </a:pPr>
            <a:endParaRPr lang="en-US" sz="2800" dirty="0"/>
          </a:p>
          <a:p>
            <a:pPr marL="457200" indent="-457200">
              <a:buFontTx/>
              <a:buChar char="-"/>
              <a:defRPr/>
            </a:pPr>
            <a:endParaRPr lang="en-US" sz="2800" dirty="0"/>
          </a:p>
          <a:p>
            <a:pPr marL="457200" indent="-457200">
              <a:buFontTx/>
              <a:buChar char="-"/>
              <a:defRPr/>
            </a:pPr>
            <a:endParaRPr lang="en-US" sz="2800" dirty="0"/>
          </a:p>
          <a:p>
            <a:pPr marL="457200" indent="-457200">
              <a:buFontTx/>
              <a:buChar char="-"/>
              <a:defRPr/>
            </a:pPr>
            <a:endParaRPr lang="en-US" sz="2800" dirty="0"/>
          </a:p>
          <a:p>
            <a:pPr marL="457200" indent="-457200">
              <a:buFontTx/>
              <a:buChar char="-"/>
              <a:defRPr/>
            </a:pPr>
            <a:endParaRPr lang="en-US" sz="2800" dirty="0"/>
          </a:p>
          <a:p>
            <a:pPr marL="457200" indent="-457200">
              <a:buFontTx/>
              <a:buChar char="-"/>
              <a:defRPr/>
            </a:pPr>
            <a:endParaRPr lang="en-US" sz="2800" dirty="0"/>
          </a:p>
          <a:p>
            <a:pPr marL="457200" indent="-457200">
              <a:buFontTx/>
              <a:buChar char="-"/>
              <a:defRPr/>
            </a:pPr>
            <a:endParaRPr lang="en-US" sz="2800" dirty="0"/>
          </a:p>
          <a:p>
            <a:pPr marL="457200" indent="-457200">
              <a:buFontTx/>
              <a:buChar char="-"/>
              <a:defRPr/>
            </a:pPr>
            <a:endParaRPr lang="en-US" sz="2800" dirty="0"/>
          </a:p>
          <a:p>
            <a:pPr marL="457200" indent="-457200">
              <a:buFontTx/>
              <a:buChar char="-"/>
              <a:defRPr/>
            </a:pPr>
            <a:endParaRPr lang="en-US" sz="2800" dirty="0"/>
          </a:p>
          <a:p>
            <a:pPr marL="457200" indent="-457200">
              <a:buFontTx/>
              <a:buChar char="-"/>
              <a:defRPr/>
            </a:pP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63D071D-77DD-2069-2F96-1D23A815E7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5007" y="1861702"/>
            <a:ext cx="16408705" cy="616314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736700" name="Group 7"/>
          <p:cNvGrpSpPr/>
          <p:nvPr/>
        </p:nvGrpSpPr>
        <p:grpSpPr bwMode="auto"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 bwMode="auto"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 bwMode="auto">
            <a:xfrm>
              <a:off x="76200" y="19050"/>
              <a:ext cx="660400" cy="717550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ts val="0"/>
                </a:spcBef>
                <a:defRPr/>
              </a:pPr>
              <a:r>
                <a:rPr lang="en-US" sz="2400" b="1">
                  <a:solidFill>
                    <a:srgbClr val="002060"/>
                  </a:solidFill>
                  <a:latin typeface="Gotham"/>
                  <a:ea typeface="Gotham"/>
                  <a:cs typeface="Gotham"/>
                </a:rPr>
                <a:t>8(A)</a:t>
              </a:r>
              <a:endParaRPr/>
            </a:p>
          </p:txBody>
        </p:sp>
      </p:grpSp>
      <p:grpSp>
        <p:nvGrpSpPr>
          <p:cNvPr id="1509705430" name="Group 10"/>
          <p:cNvGrpSpPr/>
          <p:nvPr/>
        </p:nvGrpSpPr>
        <p:grpSpPr bwMode="auto"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3</a:t>
              </a:r>
              <a:endParaRPr/>
            </a:p>
          </p:txBody>
        </p:sp>
      </p:grpSp>
      <p:grpSp>
        <p:nvGrpSpPr>
          <p:cNvPr id="141071639" name="Group 13"/>
          <p:cNvGrpSpPr/>
          <p:nvPr/>
        </p:nvGrpSpPr>
        <p:grpSpPr bwMode="auto"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1</a:t>
              </a:r>
              <a:endParaRPr/>
            </a:p>
          </p:txBody>
        </p:sp>
      </p:grpSp>
      <p:grpSp>
        <p:nvGrpSpPr>
          <p:cNvPr id="945314377" name="Group 16"/>
          <p:cNvGrpSpPr/>
          <p:nvPr/>
        </p:nvGrpSpPr>
        <p:grpSpPr bwMode="auto"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4</a:t>
              </a:r>
              <a:endParaRPr/>
            </a:p>
          </p:txBody>
        </p:sp>
      </p:grpSp>
      <p:grpSp>
        <p:nvGrpSpPr>
          <p:cNvPr id="659027962" name="Group 19"/>
          <p:cNvGrpSpPr/>
          <p:nvPr/>
        </p:nvGrpSpPr>
        <p:grpSpPr bwMode="auto"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2</a:t>
              </a:r>
              <a:endParaRPr/>
            </a:p>
          </p:txBody>
        </p:sp>
      </p:grpSp>
      <p:grpSp>
        <p:nvGrpSpPr>
          <p:cNvPr id="2032351746" name="Group 22"/>
          <p:cNvGrpSpPr/>
          <p:nvPr/>
        </p:nvGrpSpPr>
        <p:grpSpPr bwMode="auto"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6</a:t>
              </a:r>
              <a:endParaRPr/>
            </a:p>
          </p:txBody>
        </p:sp>
      </p:grpSp>
      <p:grpSp>
        <p:nvGrpSpPr>
          <p:cNvPr id="136841945" name="Group 25"/>
          <p:cNvGrpSpPr/>
          <p:nvPr/>
        </p:nvGrpSpPr>
        <p:grpSpPr bwMode="auto"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5</a:t>
              </a:r>
              <a:endParaRPr/>
            </a:p>
          </p:txBody>
        </p:sp>
      </p:grpSp>
      <p:grpSp>
        <p:nvGrpSpPr>
          <p:cNvPr id="223761700" name="Group 28"/>
          <p:cNvGrpSpPr/>
          <p:nvPr/>
        </p:nvGrpSpPr>
        <p:grpSpPr bwMode="auto"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7</a:t>
              </a:r>
              <a:endParaRPr/>
            </a:p>
          </p:txBody>
        </p:sp>
      </p:grpSp>
      <p:grpSp>
        <p:nvGrpSpPr>
          <p:cNvPr id="565897478" name="Group 31"/>
          <p:cNvGrpSpPr/>
          <p:nvPr/>
        </p:nvGrpSpPr>
        <p:grpSpPr bwMode="auto"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9</a:t>
              </a:r>
              <a:endParaRPr/>
            </a:p>
          </p:txBody>
        </p:sp>
      </p:grpSp>
      <p:sp>
        <p:nvSpPr>
          <p:cNvPr id="1747642557" name="Freeform 34"/>
          <p:cNvSpPr/>
          <p:nvPr/>
        </p:nvSpPr>
        <p:spPr bwMode="auto"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 extrusionOk="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/>
          </a:blipFill>
        </p:spPr>
        <p:txBody>
          <a:bodyPr/>
          <a:lstStyle/>
          <a:p>
            <a:endParaRPr lang="en-IN"/>
          </a:p>
        </p:txBody>
      </p:sp>
      <p:grpSp>
        <p:nvGrpSpPr>
          <p:cNvPr id="799550007" name="Group 35"/>
          <p:cNvGrpSpPr/>
          <p:nvPr/>
        </p:nvGrpSpPr>
        <p:grpSpPr bwMode="auto"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 bwMode="auto"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pFill/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/>
            <p:cNvSpPr txBox="1"/>
            <p:nvPr/>
          </p:nvSpPr>
          <p:spPr bwMode="auto">
            <a:xfrm>
              <a:off x="76200" y="47625"/>
              <a:ext cx="660400" cy="68897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defRPr/>
              </a:pPr>
              <a:endParaRPr/>
            </a:p>
          </p:txBody>
        </p:sp>
      </p:grpSp>
      <p:sp>
        <p:nvSpPr>
          <p:cNvPr id="1192912723" name="TextBox 42"/>
          <p:cNvSpPr txBox="1"/>
          <p:nvPr/>
        </p:nvSpPr>
        <p:spPr bwMode="auto"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4800" b="1">
                <a:solidFill>
                  <a:srgbClr val="0033CC"/>
                </a:solidFill>
                <a:latin typeface="Times New Roman"/>
                <a:cs typeface="Times New Roman"/>
              </a:rPr>
              <a:t>IMPLEMENTATION SCREENSHOTS</a:t>
            </a:r>
            <a:endParaRPr lang="en-IN" sz="4800" b="1">
              <a:solidFill>
                <a:srgbClr val="0033CC"/>
              </a:solidFill>
              <a:latin typeface="Times New Roman"/>
              <a:cs typeface="Times New Roman"/>
            </a:endParaRPr>
          </a:p>
        </p:txBody>
      </p:sp>
      <p:sp>
        <p:nvSpPr>
          <p:cNvPr id="86725227" name="TextBox 43"/>
          <p:cNvSpPr txBox="1"/>
          <p:nvPr/>
        </p:nvSpPr>
        <p:spPr bwMode="auto">
          <a:xfrm>
            <a:off x="2209800" y="1638300"/>
            <a:ext cx="15082325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endParaRPr dirty="0"/>
          </a:p>
          <a:p>
            <a:pPr marL="457200" indent="-457200">
              <a:buFontTx/>
              <a:buChar char="-"/>
              <a:defRPr/>
            </a:pPr>
            <a:endParaRPr lang="en-US" sz="2800" dirty="0"/>
          </a:p>
          <a:p>
            <a:pPr marL="457200" indent="-457200">
              <a:buFontTx/>
              <a:buChar char="-"/>
              <a:defRPr/>
            </a:pPr>
            <a:endParaRPr lang="en-US" sz="2800" dirty="0"/>
          </a:p>
          <a:p>
            <a:pPr marL="457200" indent="-457200">
              <a:buFontTx/>
              <a:buChar char="-"/>
              <a:defRPr/>
            </a:pPr>
            <a:endParaRPr lang="en-US" sz="2800" dirty="0"/>
          </a:p>
          <a:p>
            <a:pPr marL="457200" indent="-457200">
              <a:buFontTx/>
              <a:buChar char="-"/>
              <a:defRPr/>
            </a:pPr>
            <a:endParaRPr lang="en-US" sz="2800" dirty="0"/>
          </a:p>
          <a:p>
            <a:pPr marL="457200" indent="-457200">
              <a:buFontTx/>
              <a:buChar char="-"/>
              <a:defRPr/>
            </a:pPr>
            <a:endParaRPr lang="en-US" sz="2800" dirty="0"/>
          </a:p>
          <a:p>
            <a:pPr marL="457200" indent="-457200">
              <a:buFontTx/>
              <a:buChar char="-"/>
              <a:defRPr/>
            </a:pPr>
            <a:endParaRPr lang="en-US" sz="2800" dirty="0"/>
          </a:p>
          <a:p>
            <a:pPr marL="457200" indent="-457200">
              <a:buFontTx/>
              <a:buChar char="-"/>
              <a:defRPr/>
            </a:pPr>
            <a:endParaRPr lang="en-US" sz="2800" dirty="0"/>
          </a:p>
          <a:p>
            <a:pPr marL="457200" indent="-457200">
              <a:buFontTx/>
              <a:buChar char="-"/>
              <a:defRPr/>
            </a:pPr>
            <a:endParaRPr lang="en-US" sz="2800" dirty="0"/>
          </a:p>
          <a:p>
            <a:pPr marL="457200" indent="-457200">
              <a:buFontTx/>
              <a:buChar char="-"/>
              <a:defRPr/>
            </a:pPr>
            <a:endParaRPr lang="en-US" sz="2800" dirty="0"/>
          </a:p>
          <a:p>
            <a:pPr marL="457200" indent="-457200">
              <a:buFontTx/>
              <a:buChar char="-"/>
              <a:defRPr/>
            </a:pPr>
            <a:endParaRPr lang="en-US" sz="2800" dirty="0"/>
          </a:p>
          <a:p>
            <a:pPr marL="457200" indent="-457200">
              <a:buFontTx/>
              <a:buChar char="-"/>
              <a:defRPr/>
            </a:pPr>
            <a:endParaRPr lang="en-US" sz="2800" dirty="0"/>
          </a:p>
          <a:p>
            <a:pPr marL="457200" indent="-457200">
              <a:buFontTx/>
              <a:buChar char="-"/>
              <a:defRPr/>
            </a:pPr>
            <a:endParaRPr lang="en-IN" sz="28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50B8D46-0E36-2D92-401F-6EBAC9DFC4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 bwMode="auto">
          <a:xfrm>
            <a:off x="1867471" y="2408696"/>
            <a:ext cx="15645528" cy="501055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461937364" name="Group 7"/>
          <p:cNvGrpSpPr/>
          <p:nvPr/>
        </p:nvGrpSpPr>
        <p:grpSpPr bwMode="auto"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 bwMode="auto"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 bwMode="auto">
            <a:xfrm>
              <a:off x="76200" y="19050"/>
              <a:ext cx="660400" cy="717550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ts val="0"/>
                </a:spcBef>
                <a:defRPr/>
              </a:pPr>
              <a:r>
                <a:rPr lang="en-US" sz="2400" b="1">
                  <a:solidFill>
                    <a:srgbClr val="002060"/>
                  </a:solidFill>
                  <a:latin typeface="Gotham"/>
                  <a:ea typeface="Gotham"/>
                  <a:cs typeface="Gotham"/>
                </a:rPr>
                <a:t>8(B)</a:t>
              </a:r>
              <a:endParaRPr/>
            </a:p>
          </p:txBody>
        </p:sp>
      </p:grpSp>
      <p:grpSp>
        <p:nvGrpSpPr>
          <p:cNvPr id="763608890" name="Group 10"/>
          <p:cNvGrpSpPr/>
          <p:nvPr/>
        </p:nvGrpSpPr>
        <p:grpSpPr bwMode="auto"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3</a:t>
              </a:r>
              <a:endParaRPr/>
            </a:p>
          </p:txBody>
        </p:sp>
      </p:grpSp>
      <p:grpSp>
        <p:nvGrpSpPr>
          <p:cNvPr id="1582675425" name="Group 13"/>
          <p:cNvGrpSpPr/>
          <p:nvPr/>
        </p:nvGrpSpPr>
        <p:grpSpPr bwMode="auto"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1</a:t>
              </a:r>
              <a:endParaRPr/>
            </a:p>
          </p:txBody>
        </p:sp>
      </p:grpSp>
      <p:grpSp>
        <p:nvGrpSpPr>
          <p:cNvPr id="817741016" name="Group 16"/>
          <p:cNvGrpSpPr/>
          <p:nvPr/>
        </p:nvGrpSpPr>
        <p:grpSpPr bwMode="auto"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4</a:t>
              </a:r>
              <a:endParaRPr/>
            </a:p>
          </p:txBody>
        </p:sp>
      </p:grpSp>
      <p:grpSp>
        <p:nvGrpSpPr>
          <p:cNvPr id="2080843557" name="Group 19"/>
          <p:cNvGrpSpPr/>
          <p:nvPr/>
        </p:nvGrpSpPr>
        <p:grpSpPr bwMode="auto"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2</a:t>
              </a:r>
              <a:endParaRPr/>
            </a:p>
          </p:txBody>
        </p:sp>
      </p:grpSp>
      <p:grpSp>
        <p:nvGrpSpPr>
          <p:cNvPr id="1527052556" name="Group 22"/>
          <p:cNvGrpSpPr/>
          <p:nvPr/>
        </p:nvGrpSpPr>
        <p:grpSpPr bwMode="auto"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6</a:t>
              </a:r>
              <a:endParaRPr/>
            </a:p>
          </p:txBody>
        </p:sp>
      </p:grpSp>
      <p:grpSp>
        <p:nvGrpSpPr>
          <p:cNvPr id="1097829331" name="Group 25"/>
          <p:cNvGrpSpPr/>
          <p:nvPr/>
        </p:nvGrpSpPr>
        <p:grpSpPr bwMode="auto"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5</a:t>
              </a:r>
              <a:endParaRPr/>
            </a:p>
          </p:txBody>
        </p:sp>
      </p:grpSp>
      <p:grpSp>
        <p:nvGrpSpPr>
          <p:cNvPr id="2035336454" name="Group 28"/>
          <p:cNvGrpSpPr/>
          <p:nvPr/>
        </p:nvGrpSpPr>
        <p:grpSpPr bwMode="auto"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7</a:t>
              </a:r>
              <a:endParaRPr/>
            </a:p>
          </p:txBody>
        </p:sp>
      </p:grpSp>
      <p:grpSp>
        <p:nvGrpSpPr>
          <p:cNvPr id="1262802911" name="Group 31"/>
          <p:cNvGrpSpPr/>
          <p:nvPr/>
        </p:nvGrpSpPr>
        <p:grpSpPr bwMode="auto"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9</a:t>
              </a:r>
              <a:endParaRPr/>
            </a:p>
          </p:txBody>
        </p:sp>
      </p:grpSp>
      <p:sp>
        <p:nvSpPr>
          <p:cNvPr id="294175876" name="Freeform 34"/>
          <p:cNvSpPr/>
          <p:nvPr/>
        </p:nvSpPr>
        <p:spPr bwMode="auto"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 extrusionOk="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/>
          </a:blipFill>
        </p:spPr>
        <p:txBody>
          <a:bodyPr/>
          <a:lstStyle/>
          <a:p>
            <a:endParaRPr lang="en-IN"/>
          </a:p>
        </p:txBody>
      </p:sp>
      <p:grpSp>
        <p:nvGrpSpPr>
          <p:cNvPr id="1630661914" name="Group 35"/>
          <p:cNvGrpSpPr/>
          <p:nvPr/>
        </p:nvGrpSpPr>
        <p:grpSpPr bwMode="auto"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 bwMode="auto"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pFill/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/>
            <p:cNvSpPr txBox="1"/>
            <p:nvPr/>
          </p:nvSpPr>
          <p:spPr bwMode="auto">
            <a:xfrm>
              <a:off x="76200" y="47625"/>
              <a:ext cx="660400" cy="68897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defRPr/>
              </a:pPr>
              <a:endParaRPr/>
            </a:p>
          </p:txBody>
        </p:sp>
      </p:grpSp>
      <p:sp>
        <p:nvSpPr>
          <p:cNvPr id="2036327638" name="TextBox 42"/>
          <p:cNvSpPr txBox="1"/>
          <p:nvPr/>
        </p:nvSpPr>
        <p:spPr bwMode="auto"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4800" b="1">
                <a:solidFill>
                  <a:srgbClr val="0033CC"/>
                </a:solidFill>
                <a:latin typeface="Times New Roman"/>
                <a:cs typeface="Times New Roman"/>
              </a:rPr>
              <a:t>IMPLEMENTATION SCREENSHOTS</a:t>
            </a:r>
            <a:endParaRPr lang="en-IN" sz="4800" b="1">
              <a:solidFill>
                <a:srgbClr val="0033CC"/>
              </a:solidFill>
              <a:latin typeface="Times New Roman"/>
              <a:cs typeface="Times New Roman"/>
            </a:endParaRPr>
          </a:p>
        </p:txBody>
      </p:sp>
      <p:sp>
        <p:nvSpPr>
          <p:cNvPr id="1309843628" name="TextBox 43"/>
          <p:cNvSpPr txBox="1"/>
          <p:nvPr/>
        </p:nvSpPr>
        <p:spPr bwMode="auto">
          <a:xfrm>
            <a:off x="2209800" y="1638300"/>
            <a:ext cx="1508232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  <a:defRPr/>
            </a:pPr>
            <a:endParaRPr lang="en-US" sz="2800" dirty="0"/>
          </a:p>
          <a:p>
            <a:pPr marL="457200" indent="-457200">
              <a:buFontTx/>
              <a:buChar char="-"/>
              <a:defRPr/>
            </a:pPr>
            <a:endParaRPr lang="en-US" sz="2800" dirty="0"/>
          </a:p>
          <a:p>
            <a:pPr marL="457200" indent="-457200">
              <a:buFontTx/>
              <a:buChar char="-"/>
              <a:defRPr/>
            </a:pPr>
            <a:endParaRPr lang="en-US" sz="2800" dirty="0"/>
          </a:p>
          <a:p>
            <a:pPr marL="457200" indent="-457200">
              <a:buFontTx/>
              <a:buChar char="-"/>
              <a:defRPr/>
            </a:pPr>
            <a:endParaRPr lang="en-US" sz="2800" dirty="0"/>
          </a:p>
          <a:p>
            <a:pPr marL="457200" indent="-457200">
              <a:buFontTx/>
              <a:buChar char="-"/>
              <a:defRPr/>
            </a:pPr>
            <a:endParaRPr lang="en-US" sz="2800" dirty="0"/>
          </a:p>
          <a:p>
            <a:pPr marL="457200" indent="-457200">
              <a:buFontTx/>
              <a:buChar char="-"/>
              <a:defRPr/>
            </a:pPr>
            <a:endParaRPr lang="en-US" sz="2800" dirty="0"/>
          </a:p>
          <a:p>
            <a:pPr marL="457200" indent="-457200">
              <a:buFontTx/>
              <a:buChar char="-"/>
              <a:defRPr/>
            </a:pPr>
            <a:endParaRPr lang="en-US" sz="2800" dirty="0"/>
          </a:p>
          <a:p>
            <a:pPr marL="457200" indent="-457200">
              <a:buFontTx/>
              <a:buChar char="-"/>
              <a:defRPr/>
            </a:pPr>
            <a:endParaRPr lang="en-US" sz="2800" dirty="0"/>
          </a:p>
          <a:p>
            <a:pPr marL="457200" indent="-457200">
              <a:buFontTx/>
              <a:buChar char="-"/>
              <a:defRPr/>
            </a:pPr>
            <a:endParaRPr lang="en-US" sz="2800" dirty="0"/>
          </a:p>
          <a:p>
            <a:pPr marL="457200" indent="-457200">
              <a:buFontTx/>
              <a:buChar char="-"/>
              <a:defRPr/>
            </a:pPr>
            <a:endParaRPr lang="en-US" sz="2800" dirty="0"/>
          </a:p>
          <a:p>
            <a:pPr marL="457200" indent="-457200">
              <a:buFontTx/>
              <a:buChar char="-"/>
              <a:defRPr/>
            </a:pPr>
            <a:endParaRPr lang="en-IN" sz="2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ED7B9D3-2CDE-34AD-BF13-761B091EC3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 bwMode="auto">
          <a:xfrm>
            <a:off x="1620444" y="2998185"/>
            <a:ext cx="15165916" cy="330563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829675019" name="Group 7"/>
          <p:cNvGrpSpPr/>
          <p:nvPr/>
        </p:nvGrpSpPr>
        <p:grpSpPr bwMode="auto"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 bwMode="auto"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 bwMode="auto">
            <a:xfrm>
              <a:off x="76200" y="19050"/>
              <a:ext cx="660400" cy="717550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ts val="0"/>
                </a:spcBef>
                <a:defRPr/>
              </a:pPr>
              <a:r>
                <a:rPr lang="en-US" sz="2400" b="1">
                  <a:solidFill>
                    <a:srgbClr val="002060"/>
                  </a:solidFill>
                  <a:latin typeface="Gotham"/>
                  <a:ea typeface="Gotham"/>
                  <a:cs typeface="Gotham"/>
                </a:rPr>
                <a:t>8(C)</a:t>
              </a:r>
              <a:endParaRPr/>
            </a:p>
          </p:txBody>
        </p:sp>
      </p:grpSp>
      <p:grpSp>
        <p:nvGrpSpPr>
          <p:cNvPr id="666290846" name="Group 10"/>
          <p:cNvGrpSpPr/>
          <p:nvPr/>
        </p:nvGrpSpPr>
        <p:grpSpPr bwMode="auto"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3</a:t>
              </a:r>
              <a:endParaRPr/>
            </a:p>
          </p:txBody>
        </p:sp>
      </p:grpSp>
      <p:grpSp>
        <p:nvGrpSpPr>
          <p:cNvPr id="570957382" name="Group 13"/>
          <p:cNvGrpSpPr/>
          <p:nvPr/>
        </p:nvGrpSpPr>
        <p:grpSpPr bwMode="auto"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1</a:t>
              </a:r>
              <a:endParaRPr/>
            </a:p>
          </p:txBody>
        </p:sp>
      </p:grpSp>
      <p:grpSp>
        <p:nvGrpSpPr>
          <p:cNvPr id="2976217" name="Group 16"/>
          <p:cNvGrpSpPr/>
          <p:nvPr/>
        </p:nvGrpSpPr>
        <p:grpSpPr bwMode="auto"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4</a:t>
              </a:r>
              <a:endParaRPr/>
            </a:p>
          </p:txBody>
        </p:sp>
      </p:grpSp>
      <p:grpSp>
        <p:nvGrpSpPr>
          <p:cNvPr id="96081698" name="Group 19"/>
          <p:cNvGrpSpPr/>
          <p:nvPr/>
        </p:nvGrpSpPr>
        <p:grpSpPr bwMode="auto"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2</a:t>
              </a:r>
              <a:endParaRPr/>
            </a:p>
          </p:txBody>
        </p:sp>
      </p:grpSp>
      <p:grpSp>
        <p:nvGrpSpPr>
          <p:cNvPr id="376868069" name="Group 22"/>
          <p:cNvGrpSpPr/>
          <p:nvPr/>
        </p:nvGrpSpPr>
        <p:grpSpPr bwMode="auto"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6</a:t>
              </a:r>
              <a:endParaRPr/>
            </a:p>
          </p:txBody>
        </p:sp>
      </p:grpSp>
      <p:grpSp>
        <p:nvGrpSpPr>
          <p:cNvPr id="282197097" name="Group 25"/>
          <p:cNvGrpSpPr/>
          <p:nvPr/>
        </p:nvGrpSpPr>
        <p:grpSpPr bwMode="auto"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5</a:t>
              </a:r>
              <a:endParaRPr/>
            </a:p>
          </p:txBody>
        </p:sp>
      </p:grpSp>
      <p:grpSp>
        <p:nvGrpSpPr>
          <p:cNvPr id="1369901678" name="Group 28"/>
          <p:cNvGrpSpPr/>
          <p:nvPr/>
        </p:nvGrpSpPr>
        <p:grpSpPr bwMode="auto"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7</a:t>
              </a:r>
              <a:endParaRPr/>
            </a:p>
          </p:txBody>
        </p:sp>
      </p:grpSp>
      <p:grpSp>
        <p:nvGrpSpPr>
          <p:cNvPr id="1475592219" name="Group 31"/>
          <p:cNvGrpSpPr/>
          <p:nvPr/>
        </p:nvGrpSpPr>
        <p:grpSpPr bwMode="auto"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9</a:t>
              </a:r>
              <a:endParaRPr/>
            </a:p>
          </p:txBody>
        </p:sp>
      </p:grpSp>
      <p:sp>
        <p:nvSpPr>
          <p:cNvPr id="332475585" name="Freeform 34"/>
          <p:cNvSpPr/>
          <p:nvPr/>
        </p:nvSpPr>
        <p:spPr bwMode="auto"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 extrusionOk="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/>
          </a:blipFill>
        </p:spPr>
        <p:txBody>
          <a:bodyPr/>
          <a:lstStyle/>
          <a:p>
            <a:endParaRPr lang="en-IN"/>
          </a:p>
        </p:txBody>
      </p:sp>
      <p:grpSp>
        <p:nvGrpSpPr>
          <p:cNvPr id="1088922429" name="Group 35"/>
          <p:cNvGrpSpPr/>
          <p:nvPr/>
        </p:nvGrpSpPr>
        <p:grpSpPr bwMode="auto"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 bwMode="auto"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pFill/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/>
            <p:cNvSpPr txBox="1"/>
            <p:nvPr/>
          </p:nvSpPr>
          <p:spPr bwMode="auto">
            <a:xfrm>
              <a:off x="76200" y="47625"/>
              <a:ext cx="660400" cy="68897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defRPr/>
              </a:pPr>
              <a:endParaRPr/>
            </a:p>
          </p:txBody>
        </p:sp>
      </p:grpSp>
      <p:sp>
        <p:nvSpPr>
          <p:cNvPr id="1914133552" name="TextBox 42"/>
          <p:cNvSpPr txBox="1"/>
          <p:nvPr/>
        </p:nvSpPr>
        <p:spPr bwMode="auto"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4800" b="1">
                <a:solidFill>
                  <a:srgbClr val="0033CC"/>
                </a:solidFill>
                <a:latin typeface="Times New Roman"/>
                <a:cs typeface="Times New Roman"/>
              </a:rPr>
              <a:t>IMPLEMENTATION SCREENSHOTS</a:t>
            </a:r>
            <a:endParaRPr lang="en-IN" sz="4800" b="1">
              <a:solidFill>
                <a:srgbClr val="0033CC"/>
              </a:solidFill>
              <a:latin typeface="Times New Roman"/>
              <a:cs typeface="Times New Roman"/>
            </a:endParaRPr>
          </a:p>
        </p:txBody>
      </p:sp>
      <p:sp>
        <p:nvSpPr>
          <p:cNvPr id="836385396" name="TextBox 43"/>
          <p:cNvSpPr txBox="1"/>
          <p:nvPr/>
        </p:nvSpPr>
        <p:spPr bwMode="auto"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endParaRPr lang="en-US" sz="2800"/>
          </a:p>
          <a:p>
            <a:pPr marL="457200" indent="-457200">
              <a:buFontTx/>
              <a:buChar char="-"/>
              <a:defRPr/>
            </a:pPr>
            <a:endParaRPr lang="en-US" sz="2800"/>
          </a:p>
          <a:p>
            <a:pPr marL="457200" indent="-457200">
              <a:buFontTx/>
              <a:buChar char="-"/>
              <a:defRPr/>
            </a:pPr>
            <a:endParaRPr lang="en-US" sz="2800"/>
          </a:p>
          <a:p>
            <a:pPr marL="457200" indent="-457200">
              <a:buFontTx/>
              <a:buChar char="-"/>
              <a:defRPr/>
            </a:pPr>
            <a:endParaRPr lang="en-US" sz="2800"/>
          </a:p>
          <a:p>
            <a:pPr marL="457200" indent="-457200">
              <a:buFontTx/>
              <a:buChar char="-"/>
              <a:defRPr/>
            </a:pPr>
            <a:endParaRPr lang="en-US" sz="2800"/>
          </a:p>
          <a:p>
            <a:pPr marL="457200" indent="-457200">
              <a:buFontTx/>
              <a:buChar char="-"/>
              <a:defRPr/>
            </a:pPr>
            <a:endParaRPr lang="en-US" sz="2800"/>
          </a:p>
          <a:p>
            <a:pPr marL="457200" indent="-457200">
              <a:buFontTx/>
              <a:buChar char="-"/>
              <a:defRPr/>
            </a:pPr>
            <a:endParaRPr lang="en-US" sz="2800"/>
          </a:p>
          <a:p>
            <a:pPr marL="457200" indent="-457200">
              <a:buFontTx/>
              <a:buChar char="-"/>
              <a:defRPr/>
            </a:pPr>
            <a:endParaRPr lang="en-US" sz="2800"/>
          </a:p>
          <a:p>
            <a:pPr marL="457200" indent="-457200">
              <a:buFontTx/>
              <a:buChar char="-"/>
              <a:defRPr/>
            </a:pPr>
            <a:endParaRPr lang="en-US" sz="2800"/>
          </a:p>
          <a:p>
            <a:pPr marL="457200" indent="-457200">
              <a:buFontTx/>
              <a:buChar char="-"/>
              <a:defRPr/>
            </a:pPr>
            <a:endParaRPr lang="en-US" sz="2800"/>
          </a:p>
          <a:p>
            <a:pPr marL="457200" indent="-457200">
              <a:buFontTx/>
              <a:buChar char="-"/>
              <a:defRPr/>
            </a:pPr>
            <a:endParaRPr lang="en-US" sz="2800"/>
          </a:p>
          <a:p>
            <a:pPr marL="457200" indent="-457200">
              <a:buFontTx/>
              <a:buChar char="-"/>
              <a:defRPr/>
            </a:pPr>
            <a:endParaRPr lang="en-IN" sz="28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D7387E-9D64-ED7A-42A9-170C2A3981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0047" y="1594162"/>
            <a:ext cx="15971491" cy="779331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301626763" name="Group 5"/>
          <p:cNvGrpSpPr/>
          <p:nvPr/>
        </p:nvGrpSpPr>
        <p:grpSpPr bwMode="auto">
          <a:xfrm>
            <a:off x="735588" y="7321525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 bwMode="auto"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 bwMode="auto">
            <a:xfrm>
              <a:off x="76200" y="19050"/>
              <a:ext cx="660400" cy="717550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ts val="0"/>
                </a:spcBef>
                <a:defRPr/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</a:rPr>
                <a:t>9</a:t>
              </a:r>
              <a:endParaRPr/>
            </a:p>
          </p:txBody>
        </p:sp>
      </p:grpSp>
      <p:grpSp>
        <p:nvGrpSpPr>
          <p:cNvPr id="1575560683" name="Group 8"/>
          <p:cNvGrpSpPr/>
          <p:nvPr/>
        </p:nvGrpSpPr>
        <p:grpSpPr bwMode="auto"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3</a:t>
              </a:r>
              <a:endParaRPr/>
            </a:p>
          </p:txBody>
        </p:sp>
      </p:grpSp>
      <p:grpSp>
        <p:nvGrpSpPr>
          <p:cNvPr id="1437541883" name="Group 11"/>
          <p:cNvGrpSpPr/>
          <p:nvPr/>
        </p:nvGrpSpPr>
        <p:grpSpPr bwMode="auto"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1</a:t>
              </a:r>
              <a:endParaRPr/>
            </a:p>
          </p:txBody>
        </p:sp>
      </p:grpSp>
      <p:grpSp>
        <p:nvGrpSpPr>
          <p:cNvPr id="188516962" name="Group 14"/>
          <p:cNvGrpSpPr/>
          <p:nvPr/>
        </p:nvGrpSpPr>
        <p:grpSpPr bwMode="auto"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4</a:t>
              </a:r>
              <a:endParaRPr/>
            </a:p>
          </p:txBody>
        </p:sp>
      </p:grpSp>
      <p:grpSp>
        <p:nvGrpSpPr>
          <p:cNvPr id="1790375473" name="Group 17"/>
          <p:cNvGrpSpPr/>
          <p:nvPr/>
        </p:nvGrpSpPr>
        <p:grpSpPr bwMode="auto"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2</a:t>
              </a:r>
              <a:endParaRPr/>
            </a:p>
          </p:txBody>
        </p:sp>
      </p:grpSp>
      <p:grpSp>
        <p:nvGrpSpPr>
          <p:cNvPr id="1434626101" name="Group 20"/>
          <p:cNvGrpSpPr/>
          <p:nvPr/>
        </p:nvGrpSpPr>
        <p:grpSpPr bwMode="auto"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6</a:t>
              </a:r>
              <a:endParaRPr/>
            </a:p>
          </p:txBody>
        </p:sp>
      </p:grpSp>
      <p:grpSp>
        <p:nvGrpSpPr>
          <p:cNvPr id="1720088263" name="Group 23"/>
          <p:cNvGrpSpPr/>
          <p:nvPr/>
        </p:nvGrpSpPr>
        <p:grpSpPr bwMode="auto"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5</a:t>
              </a:r>
              <a:endParaRPr/>
            </a:p>
          </p:txBody>
        </p:sp>
      </p:grpSp>
      <p:grpSp>
        <p:nvGrpSpPr>
          <p:cNvPr id="1622519356" name="Group 26"/>
          <p:cNvGrpSpPr/>
          <p:nvPr/>
        </p:nvGrpSpPr>
        <p:grpSpPr bwMode="auto"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7</a:t>
              </a:r>
              <a:endParaRPr/>
            </a:p>
          </p:txBody>
        </p:sp>
      </p:grpSp>
      <p:grpSp>
        <p:nvGrpSpPr>
          <p:cNvPr id="751336938" name="Group 29"/>
          <p:cNvGrpSpPr/>
          <p:nvPr/>
        </p:nvGrpSpPr>
        <p:grpSpPr bwMode="auto">
          <a:xfrm>
            <a:off x="977741" y="6653894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 bwMode="auto"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 extrusionOk="0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/>
            <p:cNvSpPr txBox="1"/>
            <p:nvPr/>
          </p:nvSpPr>
          <p:spPr bwMode="auto">
            <a:xfrm>
              <a:off x="76200" y="52970"/>
              <a:ext cx="660400" cy="7353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ts val="0"/>
                </a:spcBef>
                <a:defRPr/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8</a:t>
              </a:r>
              <a:endParaRPr/>
            </a:p>
          </p:txBody>
        </p:sp>
      </p:grpSp>
      <p:sp>
        <p:nvSpPr>
          <p:cNvPr id="1631519480" name="Freeform 32"/>
          <p:cNvSpPr/>
          <p:nvPr/>
        </p:nvSpPr>
        <p:spPr bwMode="auto"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 extrusionOk="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/>
          </a:blipFill>
        </p:spPr>
        <p:txBody>
          <a:bodyPr/>
          <a:lstStyle/>
          <a:p>
            <a:endParaRPr lang="en-IN"/>
          </a:p>
        </p:txBody>
      </p:sp>
      <p:grpSp>
        <p:nvGrpSpPr>
          <p:cNvPr id="764268152" name="Group 44"/>
          <p:cNvGrpSpPr/>
          <p:nvPr/>
        </p:nvGrpSpPr>
        <p:grpSpPr bwMode="auto"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 bwMode="auto"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pFill/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TextBox 46"/>
            <p:cNvSpPr txBox="1"/>
            <p:nvPr/>
          </p:nvSpPr>
          <p:spPr bwMode="auto">
            <a:xfrm>
              <a:off x="76200" y="47625"/>
              <a:ext cx="660400" cy="68897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defRPr/>
              </a:pPr>
              <a:endParaRPr/>
            </a:p>
          </p:txBody>
        </p:sp>
      </p:grpSp>
      <p:sp>
        <p:nvSpPr>
          <p:cNvPr id="2018395732" name="TextBox 1"/>
          <p:cNvSpPr txBox="1"/>
          <p:nvPr/>
        </p:nvSpPr>
        <p:spPr bwMode="auto">
          <a:xfrm>
            <a:off x="190500" y="29049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4800" b="1">
                <a:solidFill>
                  <a:srgbClr val="0033CC"/>
                </a:solidFill>
                <a:latin typeface="Times New Roman"/>
                <a:cs typeface="Times New Roman"/>
              </a:rPr>
              <a:t>ADVANTAGES &amp; LIMITATIONS</a:t>
            </a:r>
            <a:endParaRPr lang="en-IN" sz="4800" b="1">
              <a:solidFill>
                <a:srgbClr val="0033CC"/>
              </a:solidFill>
              <a:latin typeface="Times New Roman"/>
              <a:cs typeface="Times New Roman"/>
            </a:endParaRPr>
          </a:p>
        </p:txBody>
      </p:sp>
      <p:sp>
        <p:nvSpPr>
          <p:cNvPr id="108456017" name="TextBox 108456016"/>
          <p:cNvSpPr txBox="1"/>
          <p:nvPr/>
        </p:nvSpPr>
        <p:spPr bwMode="auto">
          <a:xfrm>
            <a:off x="2859240" y="2568348"/>
            <a:ext cx="11839654" cy="4616765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sz="2600" b="1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Advantages:</a:t>
            </a:r>
            <a:endParaRPr sz="26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➤ Centralized inventory management</a:t>
            </a:r>
            <a:b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</a:br>
            <a: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➤ Real-time stock updates</a:t>
            </a:r>
            <a:b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</a:br>
            <a: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➤ Reduces human errors</a:t>
            </a:r>
            <a:b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</a:br>
            <a: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➤ Improves decision making</a:t>
            </a:r>
            <a:b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</a:br>
            <a: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➤ Saves time and cost</a:t>
            </a:r>
            <a:b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</a:br>
            <a: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➤ Secure data storage</a:t>
            </a:r>
            <a:endParaRPr sz="26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sz="2600" b="1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Limitations:</a:t>
            </a:r>
            <a:endParaRPr sz="26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➤ Requires internet connection</a:t>
            </a:r>
            <a:b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</a:br>
            <a: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➤ Initial setup cost</a:t>
            </a:r>
            <a:b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</a:br>
            <a:r>
              <a:rPr sz="2600" b="0" i="0" u="none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➤ Training required for staff</a:t>
            </a:r>
            <a:endParaRPr sz="260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4807253" name="Freeform 32"/>
          <p:cNvSpPr/>
          <p:nvPr/>
        </p:nvSpPr>
        <p:spPr bwMode="auto"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 extrusionOk="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/>
          </a:blipFill>
        </p:spPr>
        <p:txBody>
          <a:bodyPr/>
          <a:lstStyle/>
          <a:p>
            <a:endParaRPr lang="en-IN"/>
          </a:p>
        </p:txBody>
      </p:sp>
      <p:sp>
        <p:nvSpPr>
          <p:cNvPr id="1445822806" name="TextBox 43"/>
          <p:cNvSpPr txBox="1"/>
          <p:nvPr/>
        </p:nvSpPr>
        <p:spPr bwMode="auto">
          <a:xfrm>
            <a:off x="3200400" y="4486172"/>
            <a:ext cx="11159653" cy="131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49"/>
              </a:lnSpc>
              <a:defRPr/>
            </a:pPr>
            <a:r>
              <a:rPr lang="en-US" sz="11150" b="1" i="1">
                <a:solidFill>
                  <a:srgbClr val="191919"/>
                </a:solidFill>
                <a:latin typeface="Gotham Bold Italics"/>
                <a:ea typeface="Gotham Bold Italics"/>
                <a:cs typeface="Gotham Bold Italics"/>
              </a:rPr>
              <a:t>Thank you</a:t>
            </a:r>
            <a:endParaRPr/>
          </a:p>
        </p:txBody>
      </p:sp>
      <p:grpSp>
        <p:nvGrpSpPr>
          <p:cNvPr id="1533923804" name="Group 44"/>
          <p:cNvGrpSpPr/>
          <p:nvPr/>
        </p:nvGrpSpPr>
        <p:grpSpPr bwMode="auto"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 bwMode="auto"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pFill/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TextBox 46"/>
            <p:cNvSpPr txBox="1"/>
            <p:nvPr/>
          </p:nvSpPr>
          <p:spPr bwMode="auto">
            <a:xfrm>
              <a:off x="76200" y="47625"/>
              <a:ext cx="660400" cy="68897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defRPr/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886</Words>
  <Application>Microsoft Office PowerPoint</Application>
  <PresentationFormat>Custom</PresentationFormat>
  <Paragraphs>227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5" baseType="lpstr">
      <vt:lpstr>Gotham Bold Italics</vt:lpstr>
      <vt:lpstr>Optima</vt:lpstr>
      <vt:lpstr>Bookman Old Style</vt:lpstr>
      <vt:lpstr>Arial</vt:lpstr>
      <vt:lpstr>Calibri</vt:lpstr>
      <vt:lpstr>Times New Roman</vt:lpstr>
      <vt:lpstr>Cambria</vt:lpstr>
      <vt:lpstr>Gotham</vt:lpstr>
      <vt:lpstr>Caladea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dc:creator>Kamma Gowtham Sai</dc:creator>
  <cp:lastModifiedBy>Kamma Gowtham Sai</cp:lastModifiedBy>
  <cp:revision>13</cp:revision>
  <dcterms:created xsi:type="dcterms:W3CDTF">2006-08-16T00:00:00Z</dcterms:created>
  <dcterms:modified xsi:type="dcterms:W3CDTF">2026-03-23T03:30:42Z</dcterms:modified>
  <dc:identifier>DAHCaYqJ9OU</dc:identifier>
</cp:coreProperties>
</file>